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300" r:id="rId4"/>
    <p:sldId id="258" r:id="rId5"/>
    <p:sldId id="259" r:id="rId6"/>
    <p:sldId id="261" r:id="rId7"/>
    <p:sldId id="262" r:id="rId8"/>
    <p:sldId id="278" r:id="rId9"/>
    <p:sldId id="279" r:id="rId10"/>
    <p:sldId id="284" r:id="rId11"/>
    <p:sldId id="329" r:id="rId12"/>
    <p:sldId id="287" r:id="rId13"/>
    <p:sldId id="293" r:id="rId14"/>
    <p:sldId id="295" r:id="rId16"/>
    <p:sldId id="321" r:id="rId17"/>
    <p:sldId id="296" r:id="rId19"/>
    <p:sldId id="297" r:id="rId20"/>
    <p:sldId id="299" r:id="rId2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82" roundtripDataSignature="AMtx7mjR6CRC/UuTuz6mIGHhfesxpGtYd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82" Type="http://customschemas.google.com/relationships/presentationmetadata" Target="metadata"/><Relationship Id="rId83" Type="http://schemas.openxmlformats.org/officeDocument/2006/relationships/presProps" Target="presProps.xml"/><Relationship Id="rId84" Type="http://schemas.openxmlformats.org/officeDocument/2006/relationships/viewProps" Target="viewProps.xml"/><Relationship Id="rId85" Type="http://schemas.openxmlformats.org/officeDocument/2006/relationships/theme" Target="theme/theme1.xml"/><Relationship Id="rId8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8" name="Google Shape;9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7" name="Google Shape;10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7" name="Google Shape;10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615216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9" name="Google Shape;11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0" name="Google Shape;13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524d66b2ad_0_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1" name="Google Shape;151;g2524d66b2ad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524d66b2ad_0_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2" name="Google Shape;162;g2524d66b2ad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1ddeedea7d3_1_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6" name="Google Shape;336;g1ddeedea7d3_1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2524d66b2ad_0_26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7" name="Google Shape;347;g2524d66b2ad_0_2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2524d66b2ad_0_3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02" name="Google Shape;402;g2524d66b2ad_0_3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2524d66b2ad_0_3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02" name="Google Shape;402;g2524d66b2ad_0_3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161273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1dc40ab34ca_0_2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4" name="Google Shape;434;g1dc40ab34ca_0_2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2524d66b2ad_0_4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01" name="Google Shape;501;g2524d66b2ad_0_4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2524d66b2ad_0_47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23" name="Google Shape;523;g2524d66b2ad_0_4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2524d66b2ad_0_47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23" name="Google Shape;523;g2524d66b2ad_0_4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5763518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2524d66b2ad_0_49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36" name="Google Shape;536;g2524d66b2ad_0_4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47" name="Google Shape;547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67" name="Google Shape;567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9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39"/>
          <p:cNvSpPr txBox="1"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sz="36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9"/>
          <p:cNvSpPr txBox="1"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472"/>
              <a:buNone/>
              <a:defRPr sz="1600" cap="none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104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9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9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9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1644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0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40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0"/>
          <p:cNvSpPr txBox="1">
            <a:spLocks noGrp="1"/>
          </p:cNvSpPr>
          <p:nvPr>
            <p:ph type="body" idx="1"/>
          </p:nvPr>
        </p:nvSpPr>
        <p:spPr>
          <a:xfrm>
            <a:off x="581192" y="2180496"/>
            <a:ext cx="11029615" cy="367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29" name="Google Shape;29;p40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0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0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0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1"/>
          <p:cNvSpPr/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41"/>
          <p:cNvSpPr txBox="1"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sz="3600" b="0" cap="none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1"/>
          <p:cNvSpPr txBox="1"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None/>
              <a:defRPr sz="1800" cap="none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41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41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1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2"/>
          <p:cNvSpPr/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42"/>
          <p:cNvSpPr txBox="1"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2"/>
          <p:cNvSpPr txBox="1">
            <a:spLocks noGrp="1"/>
          </p:cNvSpPr>
          <p:nvPr>
            <p:ph type="body" idx="1"/>
          </p:nvPr>
        </p:nvSpPr>
        <p:spPr>
          <a:xfrm>
            <a:off x="581193" y="2228003"/>
            <a:ext cx="5422390" cy="3633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43" name="Google Shape;43;p42"/>
          <p:cNvSpPr txBox="1">
            <a:spLocks noGrp="1"/>
          </p:cNvSpPr>
          <p:nvPr>
            <p:ph type="body" idx="2"/>
          </p:nvPr>
        </p:nvSpPr>
        <p:spPr>
          <a:xfrm>
            <a:off x="6188417" y="2228003"/>
            <a:ext cx="5422392" cy="3633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44" name="Google Shape;44;p42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42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42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43"/>
          <p:cNvSpPr/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43"/>
          <p:cNvSpPr txBox="1"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43"/>
          <p:cNvSpPr txBox="1"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24"/>
              <a:buNone/>
              <a:defRPr sz="2200" b="0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>
            <a:endParaRPr/>
          </a:p>
        </p:txBody>
      </p:sp>
      <p:sp>
        <p:nvSpPr>
          <p:cNvPr id="51" name="Google Shape;51;p43"/>
          <p:cNvSpPr txBox="1">
            <a:spLocks noGrp="1"/>
          </p:cNvSpPr>
          <p:nvPr>
            <p:ph type="body" idx="2"/>
          </p:nvPr>
        </p:nvSpPr>
        <p:spPr>
          <a:xfrm>
            <a:off x="581194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52" name="Google Shape;52;p43"/>
          <p:cNvSpPr txBox="1">
            <a:spLocks noGrp="1"/>
          </p:cNvSpPr>
          <p:nvPr>
            <p:ph type="body" idx="3"/>
          </p:nvPr>
        </p:nvSpPr>
        <p:spPr>
          <a:xfrm>
            <a:off x="6523735" y="2250892"/>
            <a:ext cx="5087073" cy="553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24"/>
              <a:buNone/>
              <a:defRPr sz="2200" b="0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>
            <a:endParaRPr/>
          </a:p>
        </p:txBody>
      </p:sp>
      <p:sp>
        <p:nvSpPr>
          <p:cNvPr id="53" name="Google Shape;53;p43"/>
          <p:cNvSpPr txBox="1">
            <a:spLocks noGrp="1"/>
          </p:cNvSpPr>
          <p:nvPr>
            <p:ph type="body" idx="4"/>
          </p:nvPr>
        </p:nvSpPr>
        <p:spPr>
          <a:xfrm>
            <a:off x="6217709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54" name="Google Shape;54;p43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43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43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4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44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44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sp>
        <p:nvSpPr>
          <p:cNvPr id="61" name="Google Shape;61;p44"/>
          <p:cNvSpPr/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44"/>
          <p:cNvSpPr txBox="1"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5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45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45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6"/>
          <p:cNvSpPr/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46"/>
          <p:cNvSpPr txBox="1"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58AC"/>
              </a:buClr>
              <a:buSzPts val="2000"/>
              <a:buFont typeface="Gill Sans"/>
              <a:buNone/>
              <a:defRPr sz="2000" b="0"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46"/>
          <p:cNvSpPr txBox="1">
            <a:spLocks noGrp="1"/>
          </p:cNvSpPr>
          <p:nvPr>
            <p:ph type="body" idx="1"/>
          </p:nvPr>
        </p:nvSpPr>
        <p:spPr>
          <a:xfrm>
            <a:off x="447816" y="601200"/>
            <a:ext cx="11292840" cy="42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544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40"/>
              <a:buChar char="◼"/>
              <a:defRPr sz="2000">
                <a:solidFill>
                  <a:schemeClr val="dk2"/>
                </a:solidFill>
              </a:defRPr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 sz="1800">
                <a:solidFill>
                  <a:schemeClr val="dk2"/>
                </a:solidFill>
              </a:defRPr>
            </a:lvl2pPr>
            <a:lvl3pPr marL="1371600" lvl="2" indent="-322072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Char char="◼"/>
              <a:defRPr sz="1600">
                <a:solidFill>
                  <a:schemeClr val="dk2"/>
                </a:solidFill>
              </a:defRPr>
            </a:lvl3pPr>
            <a:lvl4pPr marL="1828800" lvl="3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4pPr>
            <a:lvl5pPr marL="2286000" lvl="4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5pPr>
            <a:lvl6pPr marL="2743200" lvl="5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6pPr>
            <a:lvl7pPr marL="3200400" lvl="6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7pPr>
            <a:lvl8pPr marL="3657600" lvl="7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8pPr>
            <a:lvl9pPr marL="4114800" lvl="8" indent="-310388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1" name="Google Shape;71;p46"/>
          <p:cNvSpPr txBox="1">
            <a:spLocks noGrp="1"/>
          </p:cNvSpPr>
          <p:nvPr>
            <p:ph type="body" idx="2"/>
          </p:nvPr>
        </p:nvSpPr>
        <p:spPr>
          <a:xfrm>
            <a:off x="5740823" y="5262296"/>
            <a:ext cx="5869987" cy="689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r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SzPts val="1012"/>
              <a:buNone/>
              <a:defRPr sz="11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12"/>
              <a:buNone/>
              <a:defRPr sz="11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>
            <a:endParaRPr/>
          </a:p>
        </p:txBody>
      </p:sp>
      <p:sp>
        <p:nvSpPr>
          <p:cNvPr id="72" name="Google Shape;72;p46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46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46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7"/>
          <p:cNvSpPr txBox="1"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Gill Sans"/>
              <a:buNone/>
              <a:defRPr sz="2400" b="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47"/>
          <p:cNvSpPr>
            <a:spLocks noGrp="1"/>
          </p:cNvSpPr>
          <p:nvPr>
            <p:ph type="pic" idx="2"/>
          </p:nvPr>
        </p:nvSpPr>
        <p:spPr>
          <a:xfrm>
            <a:off x="447817" y="599725"/>
            <a:ext cx="11290859" cy="3557252"/>
          </a:xfrm>
          <a:prstGeom prst="rect">
            <a:avLst/>
          </a:prstGeom>
          <a:noFill/>
          <a:ln>
            <a:noFill/>
          </a:ln>
        </p:spPr>
      </p:sp>
      <p:sp>
        <p:nvSpPr>
          <p:cNvPr id="78" name="Google Shape;78;p47"/>
          <p:cNvSpPr txBox="1">
            <a:spLocks noGrp="1"/>
          </p:cNvSpPr>
          <p:nvPr>
            <p:ph type="body" idx="1"/>
          </p:nvPr>
        </p:nvSpPr>
        <p:spPr>
          <a:xfrm>
            <a:off x="581192" y="5260127"/>
            <a:ext cx="11029617" cy="598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104"/>
              <a:buNone/>
              <a:defRPr sz="12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>
            <a:endParaRPr/>
          </a:p>
        </p:txBody>
      </p:sp>
      <p:sp>
        <p:nvSpPr>
          <p:cNvPr id="79" name="Google Shape;79;p47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47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47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8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48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48"/>
          <p:cNvSpPr txBox="1">
            <a:spLocks noGrp="1"/>
          </p:cNvSpPr>
          <p:nvPr>
            <p:ph type="body" idx="1"/>
          </p:nvPr>
        </p:nvSpPr>
        <p:spPr>
          <a:xfrm rot="5400000">
            <a:off x="4334603" y="-1417408"/>
            <a:ext cx="3522794" cy="11029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22072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Char char="◼"/>
              <a:defRPr/>
            </a:lvl2pPr>
            <a:lvl3pPr marL="1371600" lvl="2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/>
            </a:lvl3pPr>
            <a:lvl4pPr marL="1828800" lvl="3" indent="-298703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4pPr>
            <a:lvl5pPr marL="2286000" lvl="4" indent="-2987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86" name="Google Shape;86;p48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48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48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9"/>
          <p:cNvSpPr/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49"/>
          <p:cNvSpPr txBox="1">
            <a:spLocks noGrp="1"/>
          </p:cNvSpPr>
          <p:nvPr>
            <p:ph type="title"/>
          </p:nvPr>
        </p:nvSpPr>
        <p:spPr>
          <a:xfrm rot="5400000">
            <a:off x="7249746" y="2265181"/>
            <a:ext cx="5183073" cy="2004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49"/>
          <p:cNvSpPr txBox="1">
            <a:spLocks noGrp="1"/>
          </p:cNvSpPr>
          <p:nvPr>
            <p:ph type="body" idx="1"/>
          </p:nvPr>
        </p:nvSpPr>
        <p:spPr>
          <a:xfrm rot="5400000">
            <a:off x="2131526" y="-680877"/>
            <a:ext cx="5183073" cy="789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93" name="Google Shape;93;p49"/>
          <p:cNvSpPr txBox="1">
            <a:spLocks noGrp="1"/>
          </p:cNvSpPr>
          <p:nvPr>
            <p:ph type="dt" idx="10"/>
          </p:nvPr>
        </p:nvSpPr>
        <p:spPr>
          <a:xfrm>
            <a:off x="8993673" y="5956137"/>
            <a:ext cx="132814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49"/>
          <p:cNvSpPr txBox="1">
            <a:spLocks noGrp="1"/>
          </p:cNvSpPr>
          <p:nvPr>
            <p:ph type="ftr" idx="11"/>
          </p:nvPr>
        </p:nvSpPr>
        <p:spPr>
          <a:xfrm>
            <a:off x="774923" y="5951811"/>
            <a:ext cx="789627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49"/>
          <p:cNvSpPr txBox="1">
            <a:spLocks noGrp="1"/>
          </p:cNvSpPr>
          <p:nvPr>
            <p:ph type="sldNum" idx="12"/>
          </p:nvPr>
        </p:nvSpPr>
        <p:spPr>
          <a:xfrm>
            <a:off x="10446615" y="5956137"/>
            <a:ext cx="11641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8"/>
          <p:cNvSpPr txBox="1"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  <a:defRPr sz="2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38"/>
          <p:cNvSpPr txBox="1"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333756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8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22072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  <a:defRPr sz="16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10388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29870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29870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298703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2" name="Google Shape;12;p38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3" name="Google Shape;13;p38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4" name="Google Shape;14;p38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sp>
        <p:nvSpPr>
          <p:cNvPr id="15" name="Google Shape;15;p3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38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38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jpeg"/><Relationship Id="rId4" Type="http://schemas.openxmlformats.org/officeDocument/2006/relationships/image" Target="../media/image19.jpe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www.oracle.com/java/technologies/java-ee-glance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"/>
          <p:cNvSpPr txBox="1">
            <a:spLocks noGrp="1"/>
          </p:cNvSpPr>
          <p:nvPr>
            <p:ph type="ctrTitle"/>
          </p:nvPr>
        </p:nvSpPr>
        <p:spPr>
          <a:xfrm>
            <a:off x="517945" y="3608618"/>
            <a:ext cx="10993549" cy="1540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algn="ctr">
              <a:buClr>
                <a:schemeClr val="lt1"/>
              </a:buClr>
            </a:pPr>
            <a:r>
              <a:rPr lang="es-EC" dirty="0">
                <a:solidFill>
                  <a:schemeClr val="lt1"/>
                </a:solidFill>
              </a:rPr>
              <a:t>CONVERSIÓN DE UNIDADES SOAP EN JAVA SIN BASE DE DATOS</a:t>
            </a:r>
            <a:br>
              <a:rPr lang="es-EC" dirty="0"/>
            </a:br>
            <a:endParaRPr dirty="0">
              <a:solidFill>
                <a:schemeClr val="lt1"/>
              </a:solidFill>
            </a:endParaRPr>
          </a:p>
        </p:txBody>
      </p:sp>
      <p:sp>
        <p:nvSpPr>
          <p:cNvPr id="101" name="Google Shape;101;p1"/>
          <p:cNvSpPr txBox="1">
            <a:spLocks noGrp="1"/>
          </p:cNvSpPr>
          <p:nvPr>
            <p:ph type="subTitle" idx="1"/>
          </p:nvPr>
        </p:nvSpPr>
        <p:spPr>
          <a:xfrm>
            <a:off x="599226" y="5149400"/>
            <a:ext cx="4734774" cy="123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72"/>
              <a:buNone/>
            </a:pPr>
            <a:r>
              <a:rPr lang="es-ES" b="1" dirty="0">
                <a:solidFill>
                  <a:schemeClr val="lt1"/>
                </a:solidFill>
              </a:rPr>
              <a:t>INTEGRANTES: 	Mateo Llumigusin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72"/>
              <a:buNone/>
            </a:pPr>
            <a:r>
              <a:rPr lang="es-ES" b="1" dirty="0">
                <a:solidFill>
                  <a:schemeClr val="lt1"/>
                </a:solidFill>
              </a:rPr>
              <a:t>		Samir Mideros</a:t>
            </a:r>
            <a:endParaRPr dirty="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72"/>
              <a:buNone/>
            </a:pPr>
            <a:r>
              <a:rPr lang="es-ES" b="1" dirty="0">
                <a:solidFill>
                  <a:schemeClr val="lt1"/>
                </a:solidFill>
              </a:rPr>
              <a:t>		Cesar Loor</a:t>
            </a:r>
            <a:endParaRPr dirty="0">
              <a:solidFill>
                <a:schemeClr val="lt1"/>
              </a:solidFill>
            </a:endParaRPr>
          </a:p>
        </p:txBody>
      </p:sp>
      <p:pic>
        <p:nvPicPr>
          <p:cNvPr id="102" name="Google Shape;102;p1" descr="Resultado de imagen para esp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9597" y="716302"/>
            <a:ext cx="11647502" cy="219392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"/>
          <p:cNvSpPr txBox="1"/>
          <p:nvPr/>
        </p:nvSpPr>
        <p:spPr>
          <a:xfrm>
            <a:off x="7874425" y="5149400"/>
            <a:ext cx="3718500" cy="13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s-ES" sz="16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NRC:	36884</a:t>
            </a:r>
          </a:p>
          <a:p>
            <a:pPr marL="0" marR="0" lvl="0" indent="0" algn="l" rtl="0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None/>
            </a:pPr>
            <a:r>
              <a:rPr lang="es-ES" sz="16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FECHA: 28/10/2026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None/>
            </a:pPr>
            <a:r>
              <a:rPr lang="es-ES" sz="16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TUTOR:	</a:t>
            </a:r>
            <a:r>
              <a:rPr lang="es-ES" sz="1600" b="0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ING. MAURICIO CAMPAÑA</a:t>
            </a:r>
            <a:endParaRPr sz="1600" b="1" i="0" u="none" strike="noStrike" cap="none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4" name="Google Shape;104;p1"/>
          <p:cNvSpPr txBox="1"/>
          <p:nvPr/>
        </p:nvSpPr>
        <p:spPr>
          <a:xfrm>
            <a:off x="11817675" y="6457890"/>
            <a:ext cx="37432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ES"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1	OBJETIVO</a:t>
            </a:r>
            <a:endParaRPr/>
          </a:p>
        </p:txBody>
      </p:sp>
      <p:sp>
        <p:nvSpPr>
          <p:cNvPr id="110" name="Google Shape;110;p3"/>
          <p:cNvSpPr txBox="1"/>
          <p:nvPr/>
        </p:nvSpPr>
        <p:spPr>
          <a:xfrm>
            <a:off x="11817675" y="6457890"/>
            <a:ext cx="37432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ES" sz="20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3</a:t>
            </a:r>
            <a:endParaRPr sz="20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1" name="Google Shape;111;p3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2996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1	OBJETIVOS</a:t>
            </a:r>
            <a:endParaRPr sz="13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	</a:t>
            </a: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3	</a:t>
            </a: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4	CONCLUSIONES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5	RECOMENDACIONES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6	BIBLIOGRAFÍA</a:t>
            </a:r>
            <a:endParaRPr sz="1100" b="0" i="0" u="none" strike="noStrike" cap="non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112" name="Google Shape;112;p3"/>
          <p:cNvGrpSpPr/>
          <p:nvPr/>
        </p:nvGrpSpPr>
        <p:grpSpPr>
          <a:xfrm>
            <a:off x="624325" y="1808081"/>
            <a:ext cx="8293914" cy="4649809"/>
            <a:chOff x="0" y="52173"/>
            <a:chExt cx="8269931" cy="3824461"/>
          </a:xfrm>
        </p:grpSpPr>
        <p:sp>
          <p:nvSpPr>
            <p:cNvPr id="113" name="Google Shape;113;p3"/>
            <p:cNvSpPr/>
            <p:nvPr/>
          </p:nvSpPr>
          <p:spPr>
            <a:xfrm>
              <a:off x="0" y="52173"/>
              <a:ext cx="8269800" cy="3824461"/>
            </a:xfrm>
            <a:prstGeom prst="roundRect">
              <a:avLst>
                <a:gd name="adj" fmla="val 10000"/>
              </a:avLst>
            </a:prstGeom>
            <a:solidFill>
              <a:srgbClr val="CBCC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3"/>
            <p:cNvSpPr/>
            <p:nvPr/>
          </p:nvSpPr>
          <p:spPr>
            <a:xfrm>
              <a:off x="333805" y="846009"/>
              <a:ext cx="606900" cy="6069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 w="222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3"/>
            <p:cNvSpPr/>
            <p:nvPr/>
          </p:nvSpPr>
          <p:spPr>
            <a:xfrm>
              <a:off x="1274531" y="597724"/>
              <a:ext cx="6995400" cy="110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3"/>
            <p:cNvSpPr txBox="1"/>
            <p:nvPr/>
          </p:nvSpPr>
          <p:spPr>
            <a:xfrm>
              <a:off x="940705" y="148691"/>
              <a:ext cx="6995400" cy="329658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6775" tIns="116775" rIns="116775" bIns="116775" anchor="ctr" anchorCtr="0">
              <a:noAutofit/>
            </a:bodyPr>
            <a:lstStyle/>
            <a:p>
              <a:pPr marL="0" marR="0" lvl="0" indent="0" algn="just" rtl="0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lang="es-MX" sz="2300" dirty="0">
                <a:solidFill>
                  <a:schemeClr val="dk1"/>
                </a:solidFill>
                <a:latin typeface="Gill Sans"/>
                <a:sym typeface="Gill Sans"/>
              </a:endParaRPr>
            </a:p>
            <a:p>
              <a:pPr marL="0" marR="0" lvl="0" indent="0" algn="just" rtl="0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MX" sz="2300" dirty="0">
                  <a:solidFill>
                    <a:schemeClr val="dk1"/>
                  </a:solidFill>
                  <a:latin typeface="Gill Sans"/>
                </a:rPr>
                <a:t>El objetivo de esta práctica es desarrollar un servicio web SOAP en Java que permita la conversión de unidades de longitud, masa y temperatura.</a:t>
              </a:r>
            </a:p>
            <a:p>
              <a:pPr marL="0" marR="0" lvl="0" indent="0" algn="just" rtl="0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MX" sz="2300" dirty="0">
                  <a:solidFill>
                    <a:schemeClr val="dk1"/>
                  </a:solidFill>
                  <a:latin typeface="Gill Sans"/>
                </a:rPr>
                <a:t>La práctica busca: </a:t>
              </a:r>
            </a:p>
            <a:p>
              <a:pPr marL="342900" marR="0" lvl="0" indent="-342900" algn="just" rtl="0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 panose="020B0604020202020204" pitchFamily="34" charset="0"/>
                <a:buChar char="•"/>
              </a:pPr>
              <a:r>
                <a:rPr lang="es-MX" sz="2300" dirty="0">
                  <a:solidFill>
                    <a:schemeClr val="dk1"/>
                  </a:solidFill>
                  <a:latin typeface="Gill Sans"/>
                </a:rPr>
                <a:t>Implementar un servicio web que exponga operaciones para convertir unidades de longitud, masa y temperatura sin uso de base de datos.</a:t>
              </a:r>
            </a:p>
            <a:p>
              <a:pPr marL="342900" indent="-342900" algn="just">
                <a:lnSpc>
                  <a:spcPct val="115000"/>
                </a:lnSpc>
                <a:spcBef>
                  <a:spcPts val="1200"/>
                </a:spcBef>
                <a:buClr>
                  <a:schemeClr val="dk1"/>
                </a:buClr>
                <a:buSzPts val="1100"/>
                <a:buFont typeface="Arial" panose="020B0604020202020204" pitchFamily="34" charset="0"/>
                <a:buChar char="•"/>
              </a:pPr>
              <a:r>
                <a:rPr lang="es-MX" sz="2300" dirty="0">
                  <a:solidFill>
                    <a:schemeClr val="dk1"/>
                  </a:solidFill>
                  <a:latin typeface="Gill Sans"/>
                </a:rPr>
                <a:t>Utilizar la tecnología Java para crear, desplegar y consumir el servicio web desde clientes de consola, escritorio y móvil.</a:t>
              </a:r>
            </a:p>
            <a:p>
              <a:pPr marL="0" marR="0" lvl="0" indent="0" algn="just" rtl="0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2300" b="0" i="0" u="none" strike="noStrike" cap="none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1	OBJETIVOS ESPECIFICOS</a:t>
            </a:r>
            <a:endParaRPr/>
          </a:p>
        </p:txBody>
      </p:sp>
      <p:sp>
        <p:nvSpPr>
          <p:cNvPr id="110" name="Google Shape;110;p3"/>
          <p:cNvSpPr txBox="1"/>
          <p:nvPr/>
        </p:nvSpPr>
        <p:spPr>
          <a:xfrm>
            <a:off x="11817675" y="6457890"/>
            <a:ext cx="37432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ES" sz="20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3</a:t>
            </a:r>
            <a:endParaRPr sz="20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1" name="Google Shape;111;p3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2996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1	OBJETIVOS</a:t>
            </a:r>
            <a:endParaRPr sz="13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	</a:t>
            </a: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3	</a:t>
            </a: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4	CONCLUSIONES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5	RECOMENDACIONES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6	BIBLIOGRAFÍA</a:t>
            </a:r>
            <a:endParaRPr sz="1100" b="0" i="0" u="none" strike="noStrike" cap="non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112" name="Google Shape;112;p3"/>
          <p:cNvGrpSpPr/>
          <p:nvPr/>
        </p:nvGrpSpPr>
        <p:grpSpPr>
          <a:xfrm>
            <a:off x="581192" y="2081724"/>
            <a:ext cx="8337049" cy="4376166"/>
            <a:chOff x="-43008" y="597724"/>
            <a:chExt cx="8312941" cy="5380751"/>
          </a:xfrm>
        </p:grpSpPr>
        <p:sp>
          <p:nvSpPr>
            <p:cNvPr id="113" name="Google Shape;113;p3"/>
            <p:cNvSpPr/>
            <p:nvPr/>
          </p:nvSpPr>
          <p:spPr>
            <a:xfrm>
              <a:off x="-43008" y="1121588"/>
              <a:ext cx="8269800" cy="4856887"/>
            </a:xfrm>
            <a:prstGeom prst="roundRect">
              <a:avLst>
                <a:gd name="adj" fmla="val 10000"/>
              </a:avLst>
            </a:prstGeom>
            <a:solidFill>
              <a:srgbClr val="CBCC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3"/>
            <p:cNvSpPr/>
            <p:nvPr/>
          </p:nvSpPr>
          <p:spPr>
            <a:xfrm>
              <a:off x="364182" y="1950828"/>
              <a:ext cx="606900" cy="6069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 w="222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3"/>
            <p:cNvSpPr/>
            <p:nvPr/>
          </p:nvSpPr>
          <p:spPr>
            <a:xfrm>
              <a:off x="1274531" y="597724"/>
              <a:ext cx="6995400" cy="110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3"/>
            <p:cNvSpPr txBox="1"/>
            <p:nvPr/>
          </p:nvSpPr>
          <p:spPr>
            <a:xfrm>
              <a:off x="1274533" y="1701123"/>
              <a:ext cx="6995400" cy="40739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6775" tIns="116775" rIns="116775" bIns="116775" anchor="ctr" anchorCtr="0">
              <a:noAutofit/>
            </a:bodyPr>
            <a:lstStyle/>
            <a:p>
              <a:pPr marL="285750" lvl="0" indent="-28575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Font typeface="Arial" panose="020B0604020202020204" pitchFamily="34" charset="0"/>
                <a:buChar char="•"/>
              </a:pPr>
              <a:r>
                <a:rPr lang="es-EC" altLang="es-EC" sz="1600" dirty="0">
                  <a:solidFill>
                    <a:schemeClr val="dk1"/>
                  </a:solidFill>
                  <a:latin typeface="Gill Sans"/>
                </a:rPr>
                <a:t>Estructurar el proyecto en capas lógicas (modelo, servicio, controlador y vista) para mejorar la organización y mantenibilidad del código.</a:t>
              </a:r>
            </a:p>
            <a:p>
              <a:pPr marL="285750" lvl="0" indent="-28575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Font typeface="Arial" panose="020B0604020202020204" pitchFamily="34" charset="0"/>
                <a:buChar char="•"/>
              </a:pPr>
              <a:endParaRPr lang="es-EC" altLang="es-EC" sz="1600" dirty="0">
                <a:solidFill>
                  <a:schemeClr val="dk1"/>
                </a:solidFill>
                <a:latin typeface="Gill Sans"/>
              </a:endParaRPr>
            </a:p>
            <a:p>
              <a:pPr marL="285750" lvl="0" indent="-28575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Font typeface="Arial" panose="020B0604020202020204" pitchFamily="34" charset="0"/>
                <a:buChar char="•"/>
              </a:pPr>
              <a:r>
                <a:rPr lang="es-EC" altLang="es-EC" sz="1600" dirty="0">
                  <a:solidFill>
                    <a:schemeClr val="dk1"/>
                  </a:solidFill>
                  <a:latin typeface="Gill Sans"/>
                </a:rPr>
                <a:t>Aplicar principios de la programación orientada a objetos en la implementación de la lógica de negocio</a:t>
              </a:r>
            </a:p>
            <a:p>
              <a:pPr marL="285750" lvl="0" indent="-28575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Font typeface="Arial" panose="020B0604020202020204" pitchFamily="34" charset="0"/>
                <a:buChar char="•"/>
              </a:pPr>
              <a:endParaRPr lang="es-EC" altLang="es-EC" sz="1600" dirty="0">
                <a:solidFill>
                  <a:schemeClr val="dk1"/>
                </a:solidFill>
                <a:latin typeface="Gill Sans"/>
              </a:endParaRPr>
            </a:p>
            <a:p>
              <a:pPr marL="285750" indent="-28575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Font typeface="Arial" panose="020B0604020202020204" pitchFamily="34" charset="0"/>
                <a:buChar char="•"/>
              </a:pPr>
              <a:r>
                <a:rPr lang="es-EC" altLang="es-EC" sz="1600" dirty="0">
                  <a:solidFill>
                    <a:schemeClr val="dk1"/>
                  </a:solidFill>
                  <a:latin typeface="Gill Sans"/>
                </a:rPr>
                <a:t>Verificar el correcto funcionamiento de las operaciones de conversión con pruebas desde los clientes.</a:t>
              </a: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endParaRPr lang="es-EC" altLang="es-EC" sz="1600" dirty="0">
                <a:solidFill>
                  <a:schemeClr val="dk1"/>
                </a:solidFill>
                <a:latin typeface="Gill Sans"/>
              </a:endParaRPr>
            </a:p>
            <a:p>
              <a:pPr marL="285750" indent="-28575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Font typeface="Arial" panose="020B0604020202020204" pitchFamily="34" charset="0"/>
                <a:buChar char="•"/>
              </a:pPr>
              <a:r>
                <a:rPr lang="es-EC" altLang="es-EC" sz="1600" dirty="0">
                  <a:solidFill>
                    <a:schemeClr val="dk1"/>
                  </a:solidFill>
                  <a:latin typeface="Gill Sans"/>
                </a:rPr>
                <a:t>Validar el acceso mediante autenticación con las credenciales MONSTER / MONSTER69 y comprobar los resultados en cada cliente.</a:t>
              </a:r>
            </a:p>
            <a:p>
              <a:pPr marL="285750" lvl="0" indent="-28575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Font typeface="Arial" panose="020B0604020202020204" pitchFamily="34" charset="0"/>
                <a:buChar char="•"/>
              </a:pPr>
              <a:endParaRPr lang="es-MX" sz="1600" dirty="0">
                <a:solidFill>
                  <a:schemeClr val="dk1"/>
                </a:solidFill>
                <a:latin typeface="Gill Sans"/>
                <a:sym typeface="Gill Sans"/>
              </a:endParaRPr>
            </a:p>
            <a:p>
              <a:pPr marL="0" marR="0" lvl="0" indent="0" algn="just" rtl="0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lang="es-MX" sz="2300" b="0" i="0" u="none" strike="noStrike" cap="none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201617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581190" y="457201"/>
            <a:ext cx="7363959" cy="914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8239774" y="453643"/>
            <a:ext cx="3291840" cy="9855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581189" y="681070"/>
            <a:ext cx="7363960" cy="56933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5" name="Google Shape;125;p7"/>
          <p:cNvSpPr txBox="1">
            <a:spLocks noGrp="1"/>
          </p:cNvSpPr>
          <p:nvPr>
            <p:ph type="title"/>
          </p:nvPr>
        </p:nvSpPr>
        <p:spPr>
          <a:xfrm>
            <a:off x="996381" y="1152939"/>
            <a:ext cx="6583680" cy="453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Gill Sans"/>
              <a:buNone/>
            </a:pPr>
            <a:r>
              <a:rPr lang="es-ES" sz="5400">
                <a:solidFill>
                  <a:srgbClr val="FFFFFF"/>
                </a:solidFill>
              </a:rPr>
              <a:t>2	DESARROLLO</a:t>
            </a:r>
            <a:endParaRPr sz="5400">
              <a:solidFill>
                <a:srgbClr val="FFFFFF"/>
              </a:solidFill>
            </a:endParaRPr>
          </a:p>
        </p:txBody>
      </p:sp>
      <p:sp>
        <p:nvSpPr>
          <p:cNvPr id="126" name="Google Shape;126;p7"/>
          <p:cNvSpPr txBox="1">
            <a:spLocks noGrp="1"/>
          </p:cNvSpPr>
          <p:nvPr>
            <p:ph type="body" idx="1"/>
          </p:nvPr>
        </p:nvSpPr>
        <p:spPr>
          <a:xfrm>
            <a:off x="8210681" y="1152939"/>
            <a:ext cx="3400126" cy="453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060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endParaRPr/>
          </a:p>
          <a:p>
            <a:pPr marL="306000" lvl="0" indent="-200844" algn="l" rtl="0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SzPts val="1656"/>
              <a:buNone/>
            </a:pPr>
            <a:endParaRPr/>
          </a:p>
        </p:txBody>
      </p:sp>
      <p:sp>
        <p:nvSpPr>
          <p:cNvPr id="127" name="Google Shape;127;p7"/>
          <p:cNvSpPr txBox="1"/>
          <p:nvPr/>
        </p:nvSpPr>
        <p:spPr>
          <a:xfrm>
            <a:off x="11817675" y="6457890"/>
            <a:ext cx="37432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ES"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MX"/>
              <a:t>2.1.1.	CREACIÓN DEL PROYECTO SERVIDOR </a:t>
            </a:r>
            <a:endParaRPr lang="es-ES"/>
          </a:p>
        </p:txBody>
      </p:sp>
      <p:sp>
        <p:nvSpPr>
          <p:cNvPr id="133" name="Google Shape;133;p8"/>
          <p:cNvSpPr txBox="1"/>
          <p:nvPr/>
        </p:nvSpPr>
        <p:spPr>
          <a:xfrm>
            <a:off x="11817675" y="6457890"/>
            <a:ext cx="37432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ES" sz="20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8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2996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1	OBJETIVOS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	MARCO TEÓRICO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0000" marR="0" lvl="1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2.1  INTRODUCCIÓN A DOTNET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2.2  DOTNET FRAMEWORK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2.3  DOTNET CORE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2.4 MONO Y XAMARIN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2.5 ENTITY FRAMEWORK CORE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2.6    C++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2.7    F#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2.8    VISUAL BASIC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2.9    C#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2.10   JAVA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2.11   JAVASCRIPT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3	DESARROLLO</a:t>
            </a:r>
            <a:endParaRPr sz="13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0000" marR="0" lvl="1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3.1.	VIDEO 2: LENGUAJES DE PROGRAMACIÓN DE .NET</a:t>
            </a:r>
            <a:endParaRPr sz="13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0000" marR="0" lvl="1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3.2.	VIDEO 3: INTEROPERABILIDAD DE LENGUAJES DE .NET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0000" marR="0" lvl="1" indent="-3184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3.3.	VIDEO 4: .NET STANDARD BCL PCL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4	CONCLUSIONES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5	RECOMENDACIONES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6	BIBLIOGRAFÍA</a:t>
            </a:r>
            <a:endParaRPr sz="1100" b="0" i="0" u="none" strike="noStrike" cap="non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5" name="Google Shape;135;p8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2996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1	OBJETIVOS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2	MARCO TEÓRICO</a:t>
            </a:r>
            <a:endParaRPr sz="13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0000" marR="0" lvl="1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2.1  DECLARACIÓN UPDATE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2.2  DECLARACIÓN SELECT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2.3  MARCO DE PÁGINA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2.4  BOOTSTRAP</a:t>
            </a:r>
            <a:endParaRPr sz="1100" b="0" i="0" u="none" strike="noStrike" cap="non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3	DESARROLLO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0000" marR="0" lvl="1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3.1.	VIDEO 2: LENGUAJES DE PROGRAMACIÓN DE .NET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0000" marR="0" lvl="1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3.2.	VIDEO 3: INTEROPERABILIDAD DE LENGUAJES DE .NET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0000" marR="0" lvl="1" indent="-3184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3.3.	VIDEO 4: .NET STANDARD BCL PCL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4	CONCLUSIONES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5	RECOMENDACIONES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6	BIBLIOGRAFÍA</a:t>
            </a:r>
            <a:endParaRPr sz="1100" b="0" i="0" u="none" strike="noStrike" cap="non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36" name="Google Shape;136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52825" y="2215731"/>
            <a:ext cx="5086350" cy="36385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8"/>
          <p:cNvSpPr txBox="1">
            <a:spLocks noGrp="1"/>
          </p:cNvSpPr>
          <p:nvPr>
            <p:ph type="body" idx="1"/>
          </p:nvPr>
        </p:nvSpPr>
        <p:spPr>
          <a:xfrm>
            <a:off x="0" y="2057800"/>
            <a:ext cx="3312300" cy="44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06000" lvl="0" indent="-305998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56"/>
              <a:buChar char="◼"/>
            </a:pPr>
            <a:r>
              <a:rPr lang="es-ES">
                <a:solidFill>
                  <a:schemeClr val="dk1"/>
                </a:solidFill>
              </a:rPr>
              <a:t>Para empezar con la creación del web service SOAP sin base de datos en Java, se crea un proyecto de tipo “Web Application” (Maven) en Apache NetBeans 21.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306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948"/>
              <a:buNone/>
            </a:pPr>
            <a:endParaRPr>
              <a:solidFill>
                <a:schemeClr val="dk1"/>
              </a:solidFill>
            </a:endParaRPr>
          </a:p>
          <a:p>
            <a:pPr marL="306000" lvl="0" indent="0" algn="just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948"/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38" name="Google Shape;138;p8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2996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1	OBJETIVOS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004"/>
              <a:buFont typeface="Noto Sans Symbols"/>
              <a:buChar char="◼"/>
            </a:pPr>
            <a:r>
              <a:rPr lang="es-ES" sz="110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r>
              <a:rPr lang="es-ES" sz="1100" b="0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	</a:t>
            </a:r>
            <a:r>
              <a:rPr lang="es-ES" sz="110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100" b="0" i="0" u="none" strike="noStrike" cap="non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3	</a:t>
            </a: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4	CONCLUSIONES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5	RECOMENDACIONES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6	BIBLIOGRAFÍA</a:t>
            </a:r>
            <a:endParaRPr sz="1100" b="0" i="0" u="none" strike="noStrike" cap="non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524d66b2ad_0_10"/>
          <p:cNvSpPr txBox="1">
            <a:spLocks noGrp="1"/>
          </p:cNvSpPr>
          <p:nvPr>
            <p:ph type="body" idx="1"/>
          </p:nvPr>
        </p:nvSpPr>
        <p:spPr>
          <a:xfrm>
            <a:off x="4928123" y="2227410"/>
            <a:ext cx="3312300" cy="44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06000" lvl="0" indent="-305998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56"/>
              <a:buChar char="◼"/>
            </a:pPr>
            <a:r>
              <a:rPr lang="es-ES">
                <a:solidFill>
                  <a:schemeClr val="dk1"/>
                </a:solidFill>
              </a:rPr>
              <a:t>El proyecto correrá en Payara Server 6 con Jakarta EE 10 Web, publicando el servicio con JAX-WS.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56"/>
              <a:buNone/>
            </a:pPr>
            <a:r>
              <a:rPr lang="es-ES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marL="306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948"/>
              <a:buNone/>
            </a:pPr>
            <a:endParaRPr>
              <a:solidFill>
                <a:schemeClr val="dk1"/>
              </a:solidFill>
            </a:endParaRPr>
          </a:p>
          <a:p>
            <a:pPr marL="306000" lvl="0" indent="0" algn="just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948"/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4" name="Google Shape;154;g2524d66b2ad_0_10"/>
          <p:cNvSpPr txBox="1"/>
          <p:nvPr/>
        </p:nvSpPr>
        <p:spPr>
          <a:xfrm>
            <a:off x="11704320" y="6427410"/>
            <a:ext cx="467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ES" sz="20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17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g2524d66b2ad_0_10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2996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1	OBJETIVOS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	MARCO TEÓRICO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0000" marR="0" lvl="1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2.1  INTRODUCCIÓN A DOTNET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2.2  DOTNET FRAMEWORK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2.3  DOTNET CORE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2.4 MONO Y XAMARIN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2.5 ENTITY FRAMEWORK CORE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2.6    C++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2.7    F#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2.8    VISUAL BASIC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2.9    C#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2.10   JAVA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2.11   JAVASCRIPT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3	DESARROLLO</a:t>
            </a:r>
            <a:endParaRPr sz="13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0000" marR="0" lvl="1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3.1.	VIDEO 2: LENGUAJES DE PROGRAMACIÓN DE .NET</a:t>
            </a:r>
            <a:endParaRPr sz="13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0000" marR="0" lvl="1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3.2.	VIDEO 3: INTEROPERABILIDAD DE LENGUAJES DE .NET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0000" marR="0" lvl="1" indent="-3184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3.3.	VIDEO 4: .NET STANDARD BCL PCL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4	CONCLUSIONES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5	RECOMENDACIONES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6	BIBLIOGRAFÍA</a:t>
            </a:r>
            <a:endParaRPr sz="1100" b="0" i="0" u="none" strike="noStrike" cap="non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7" name="Google Shape;157;g2524d66b2ad_0_10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2996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1	OBJETIVOS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2	MARCO TEÓRICO</a:t>
            </a:r>
            <a:endParaRPr sz="13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0000" marR="0" lvl="1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2.1  DECLARACIÓN UPDATE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2.2  DECLARACIÓN SELECT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2.3  MARCO DE PÁGINA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2.4  BOOTSTRAP</a:t>
            </a:r>
            <a:endParaRPr sz="1100" b="0" i="0" u="none" strike="noStrike" cap="non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3	DESARROLLO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0000" marR="0" lvl="1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3.1.	VIDEO 2: LENGUAJES DE PROGRAMACIÓN DE .NET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0000" marR="0" lvl="1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3.2.	VIDEO 3: INTEROPERABILIDAD DE LENGUAJES DE .NET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0000" marR="0" lvl="1" indent="-3184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3.3.	VIDEO 4: .NET STANDARD BCL PCL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4	CONCLUSIONES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5	RECOMENDACIONES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6	BIBLIOGRAFÍA</a:t>
            </a:r>
            <a:endParaRPr sz="1100" b="0" i="0" u="none" strike="noStrike" cap="non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58" name="Google Shape;158;g2524d66b2ad_0_10" descr="Interfaz de usuario gráfica, Texto, Aplicación&#10;&#10;Descripción generada automáticament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9751" y="4157853"/>
            <a:ext cx="3699900" cy="2575625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g2524d66b2ad_0_10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2996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1	OBJETIVOS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004"/>
              <a:buFont typeface="Noto Sans Symbols"/>
              <a:buChar char="◼"/>
            </a:pPr>
            <a:r>
              <a:rPr lang="es-ES" sz="110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r>
              <a:rPr lang="es-ES" sz="1100" b="0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	</a:t>
            </a:r>
            <a:r>
              <a:rPr lang="es-ES" sz="110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100" b="0" i="0" u="none" strike="noStrike" cap="non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3	</a:t>
            </a: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4	CONCLUSIONES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5	RECOMENDACIONES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6	BIBLIOGRAFÍA</a:t>
            </a:r>
            <a:endParaRPr sz="1100" b="0" i="0" u="none" strike="noStrike" cap="non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2" name="Imagen 1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61BF90E4-2C39-3FFD-D3D0-6EA62B4BB8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710" y="1897936"/>
            <a:ext cx="3038469" cy="2032380"/>
          </a:xfrm>
          <a:prstGeom prst="rect">
            <a:avLst/>
          </a:prstGeom>
          <a:ln w="101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524d66b2ad_0_22"/>
          <p:cNvSpPr txBox="1">
            <a:spLocks noGrp="1"/>
          </p:cNvSpPr>
          <p:nvPr>
            <p:ph type="body" idx="1"/>
          </p:nvPr>
        </p:nvSpPr>
        <p:spPr>
          <a:xfrm>
            <a:off x="397608" y="2126657"/>
            <a:ext cx="3312300" cy="44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06000" lvl="0" indent="-290225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91998"/>
              <a:buChar char="◼"/>
            </a:pPr>
            <a:r>
              <a:rPr lang="es-MX" dirty="0">
                <a:solidFill>
                  <a:schemeClr val="dk1"/>
                </a:solidFill>
              </a:rPr>
              <a:t>Se crean los paquetes de servicio y web services (ec.edu.monster.servicio y ec.edu.monster.ws) y luego se procede a la codificación; el contexto de la aplicación es /WS_ConUni_SOAPJAVA_GR06.</a:t>
            </a:r>
            <a:endParaRPr dirty="0">
              <a:solidFill>
                <a:schemeClr val="dk1"/>
              </a:solidFill>
            </a:endParaRPr>
          </a:p>
          <a:p>
            <a:pPr marL="306000" lvl="0" indent="0" algn="just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108235"/>
              <a:buNone/>
            </a:pPr>
            <a:endParaRPr dirty="0">
              <a:solidFill>
                <a:schemeClr val="dk1"/>
              </a:solidFill>
            </a:endParaRPr>
          </a:p>
        </p:txBody>
      </p:sp>
      <p:sp>
        <p:nvSpPr>
          <p:cNvPr id="165" name="Google Shape;165;g2524d66b2ad_0_22"/>
          <p:cNvSpPr txBox="1"/>
          <p:nvPr/>
        </p:nvSpPr>
        <p:spPr>
          <a:xfrm>
            <a:off x="11704320" y="6427410"/>
            <a:ext cx="467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ES" sz="20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17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g2524d66b2ad_0_22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2996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1	OBJETIVOS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	MARCO TEÓRICO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0000" marR="0" lvl="1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2.1  INTRODUCCIÓN A DOTNET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2.2  DOTNET FRAMEWORK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2.3  DOTNET CORE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2.4 MONO Y XAMARIN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2.5 ENTITY FRAMEWORK CORE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2.6    C++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2.7    F#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2.8    VISUAL BASIC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2.9    C#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2.10   JAVA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2.11   JAVASCRIPT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3	DESARROLLO</a:t>
            </a:r>
            <a:endParaRPr sz="13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0000" marR="0" lvl="1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3.1.	VIDEO 2: LENGUAJES DE PROGRAMACIÓN DE .NET</a:t>
            </a:r>
            <a:endParaRPr sz="13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0000" marR="0" lvl="1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3.2.	VIDEO 3: INTEROPERABILIDAD DE LENGUAJES DE .NET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0000" marR="0" lvl="1" indent="-3184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3.3.	VIDEO 4: .NET STANDARD BCL PCL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4	CONCLUSIONES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5	RECOMENDACIONES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6	BIBLIOGRAFÍA</a:t>
            </a:r>
            <a:endParaRPr sz="1100" b="0" i="0" u="none" strike="noStrike" cap="non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7" name="Google Shape;167;g2524d66b2ad_0_22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2996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1	OBJETIVOS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2	MARCO TEÓRICO</a:t>
            </a:r>
            <a:endParaRPr sz="13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0000" marR="0" lvl="1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2.1  DECLARACIÓN UPDATE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2.2  DECLARACIÓN SELECT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2.3  MARCO DE PÁGINA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2.4  BOOTSTRAP</a:t>
            </a:r>
            <a:endParaRPr sz="1100" b="0" i="0" u="none" strike="noStrike" cap="non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3	DESARROLLO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0000" marR="0" lvl="1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3.1.	VIDEO 2: LENGUAJES DE PROGRAMACIÓN DE .NET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0000" marR="0" lvl="1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3.2.	VIDEO 3: INTEROPERABILIDAD DE LENGUAJES DE .NET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0000" marR="0" lvl="1" indent="-3184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3.3.	VIDEO 4: .NET STANDARD BCL PCL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4	CONCLUSIONES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5	RECOMENDACIONES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6	BIBLIOGRAFÍA</a:t>
            </a:r>
            <a:endParaRPr sz="1100" b="0" i="0" u="none" strike="noStrike" cap="non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0" name="Google Shape;170;g2524d66b2ad_0_22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2996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1	OBJETIVOS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004"/>
              <a:buFont typeface="Noto Sans Symbols"/>
              <a:buChar char="◼"/>
            </a:pPr>
            <a:r>
              <a:rPr lang="es-ES" sz="110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r>
              <a:rPr lang="es-ES" sz="1100" b="0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	</a:t>
            </a:r>
            <a:r>
              <a:rPr lang="es-ES" sz="110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100" b="0" i="0" u="none" strike="noStrike" cap="non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3	</a:t>
            </a: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4	CONCLUSIONES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5	RECOMENDACIONES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6	BIBLIOGRAFÍA</a:t>
            </a:r>
            <a:endParaRPr sz="1100" b="0" i="0" u="none" strike="noStrike" cap="non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2" name="Imagen 1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92D423EF-12D3-125D-3074-55772CB380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1911" y="3429000"/>
            <a:ext cx="4727575" cy="1546860"/>
          </a:xfrm>
          <a:prstGeom prst="rect">
            <a:avLst/>
          </a:prstGeom>
          <a:ln w="101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1ddeedea7d3_1_27"/>
          <p:cNvSpPr txBox="1">
            <a:spLocks noGrp="1"/>
          </p:cNvSpPr>
          <p:nvPr>
            <p:ph type="body" idx="1"/>
          </p:nvPr>
        </p:nvSpPr>
        <p:spPr>
          <a:xfrm>
            <a:off x="581200" y="2180500"/>
            <a:ext cx="3312300" cy="44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s-EC" dirty="0"/>
              <a:t>Realizado el servidor se avanza a las aplicaciones cliente; para el cliente de escritorio se crea un nuevo proyecto de tipo Java Application (Swing).</a:t>
            </a:r>
          </a:p>
          <a:p>
            <a:pPr marL="306000" lvl="0" indent="0" algn="just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656"/>
              <a:buNone/>
            </a:pPr>
            <a:endParaRPr dirty="0">
              <a:solidFill>
                <a:schemeClr val="dk1"/>
              </a:solidFill>
            </a:endParaRPr>
          </a:p>
        </p:txBody>
      </p:sp>
      <p:sp>
        <p:nvSpPr>
          <p:cNvPr id="339" name="Google Shape;339;g1ddeedea7d3_1_27"/>
          <p:cNvSpPr txBox="1"/>
          <p:nvPr/>
        </p:nvSpPr>
        <p:spPr>
          <a:xfrm>
            <a:off x="11704320" y="6427410"/>
            <a:ext cx="467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ES" sz="20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17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g1ddeedea7d3_1_27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2996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1	OBJETIVOS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	MARCO TEÓRICO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0000" marR="0" lvl="1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2.1  INTRODUCCIÓN A DOTNET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2.2  DOTNET FRAMEWORK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2.3  DOTNET CORE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2.4 MONO Y XAMARIN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2.5 ENTITY FRAMEWORK CORE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2.6    C++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2.7    F#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2.8    VISUAL BASIC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2.9    C#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2.10   JAVA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2.11   JAVASCRIPT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3	DESARROLLO</a:t>
            </a:r>
            <a:endParaRPr sz="13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0000" marR="0" lvl="1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3.1.	VIDEO 2: LENGUAJES DE PROGRAMACIÓN DE .NET</a:t>
            </a:r>
            <a:endParaRPr sz="13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0000" marR="0" lvl="1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3.2.	VIDEO 3: INTEROPERABILIDAD DE LENGUAJES DE .NET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0000" marR="0" lvl="1" indent="-3184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3.3.	VIDEO 4: .NET STANDARD BCL PCL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4	CONCLUSIONES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5	RECOMENDACIONES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6	BIBLIOGRAFÍA</a:t>
            </a:r>
            <a:endParaRPr sz="1100" b="0" i="0" u="none" strike="noStrike" cap="non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41" name="Google Shape;341;g1ddeedea7d3_1_27"/>
          <p:cNvSpPr txBox="1">
            <a:spLocks noGrp="1"/>
          </p:cNvSpPr>
          <p:nvPr>
            <p:ph type="title"/>
          </p:nvPr>
        </p:nvSpPr>
        <p:spPr>
          <a:xfrm>
            <a:off x="436813" y="605903"/>
            <a:ext cx="10920998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2.2 CREACIÓN DEL PROYECTO </a:t>
            </a:r>
            <a:r>
              <a:rPr lang="es-EC"/>
              <a:t>ESCRITORIO CLIENTE</a:t>
            </a:r>
            <a:endParaRPr/>
          </a:p>
        </p:txBody>
      </p:sp>
      <p:sp>
        <p:nvSpPr>
          <p:cNvPr id="342" name="Google Shape;342;g1ddeedea7d3_1_27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2996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1	OBJETIVOS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2	MARCO TEÓRICO</a:t>
            </a:r>
            <a:endParaRPr sz="13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0000" marR="0" lvl="1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2.1  DECLARACIÓN UPDATE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2.2  DECLARACIÓN SELECT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2.3  MARCO DE PÁGINA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2.4  BOOTSTRAP</a:t>
            </a:r>
            <a:endParaRPr sz="1100" b="0" i="0" u="none" strike="noStrike" cap="non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3	DESARROLLO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0000" marR="0" lvl="1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3.1.	VIDEO 2: LENGUAJES DE PROGRAMACIÓN DE .NET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0000" marR="0" lvl="1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3.2.	VIDEO 3: INTEROPERABILIDAD DE LENGUAJES DE .NET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0000" marR="0" lvl="1" indent="-3184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3.3.	VIDEO 4: .NET STANDARD BCL PCL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4	CONCLUSIONES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5	RECOMENDACIONES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6	BIBLIOGRAFÍA</a:t>
            </a:r>
            <a:endParaRPr sz="1100" b="0" i="0" u="none" strike="noStrike" cap="non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44" name="Google Shape;344;g1ddeedea7d3_1_27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2996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1	OBJETIVOS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004"/>
              <a:buFont typeface="Noto Sans Symbols"/>
              <a:buChar char="◼"/>
            </a:pPr>
            <a:r>
              <a:rPr lang="es-ES" sz="110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r>
              <a:rPr lang="es-ES" sz="1100" b="0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	</a:t>
            </a:r>
            <a:r>
              <a:rPr lang="es-ES" sz="110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100" b="0" i="0" u="none" strike="noStrike" cap="non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3	</a:t>
            </a: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4	CONCLUSIONES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5	RECOMENDACIONES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6	BIBLIOGRAFÍA</a:t>
            </a:r>
            <a:endParaRPr sz="1100" b="0" i="0" u="none" strike="noStrike" cap="non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263B2C0-A2F9-BA45-878D-79922572D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2851" y="2505486"/>
            <a:ext cx="5125165" cy="301984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2524d66b2ad_0_260"/>
          <p:cNvSpPr txBox="1">
            <a:spLocks noGrp="1"/>
          </p:cNvSpPr>
          <p:nvPr>
            <p:ph type="body" idx="1"/>
          </p:nvPr>
        </p:nvSpPr>
        <p:spPr>
          <a:xfrm>
            <a:off x="393454" y="2027310"/>
            <a:ext cx="3312300" cy="44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10000"/>
          </a:bodyPr>
          <a:lstStyle/>
          <a:p>
            <a:pPr marL="306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8235"/>
              <a:buNone/>
            </a:pPr>
            <a:r>
              <a:rPr lang="es-MX">
                <a:solidFill>
                  <a:schemeClr val="dk1"/>
                </a:solidFill>
              </a:rPr>
              <a:t>Después de la creación de la aplicación, el paso inicial implica la generación del cliente del servicio web. Se hace clic derecho en el proyecto y se selecciona “Web Service Client”, usando la URL del WSDL del servidor (http://localhost:8080/WS_ConUni_SOAPJAVA_GR06/WSConversionUnidades?wsdl).</a:t>
            </a:r>
            <a:endParaRPr>
              <a:solidFill>
                <a:schemeClr val="dk1"/>
              </a:solidFill>
            </a:endParaRPr>
          </a:p>
          <a:p>
            <a:pPr marL="306000" lvl="0" indent="0" algn="just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108235"/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350" name="Google Shape;350;g2524d66b2ad_0_260"/>
          <p:cNvSpPr txBox="1"/>
          <p:nvPr/>
        </p:nvSpPr>
        <p:spPr>
          <a:xfrm>
            <a:off x="11704320" y="6427410"/>
            <a:ext cx="467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ES" sz="20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17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g2524d66b2ad_0_260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2996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1	OBJETIVOS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	MARCO TEÓRICO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0000" marR="0" lvl="1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2.1  INTRODUCCIÓN A DOTNET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2.2  DOTNET FRAMEWORK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2.3  DOTNET CORE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2.4 MONO Y XAMARIN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2.5 ENTITY FRAMEWORK CORE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2.6    C++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2.7    F#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2.8    VISUAL BASIC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2.9    C#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2.10   JAVA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2.11   JAVASCRIPT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3	DESARROLLO</a:t>
            </a:r>
            <a:endParaRPr sz="13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0000" marR="0" lvl="1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3.1.	VIDEO 2: LENGUAJES DE PROGRAMACIÓN DE .NET</a:t>
            </a:r>
            <a:endParaRPr sz="13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0000" marR="0" lvl="1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3.2.	VIDEO 3: INTEROPERABILIDAD DE LENGUAJES DE .NET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0000" marR="0" lvl="1" indent="-3184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3.3.	VIDEO 4: .NET STANDARD BCL PCL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4	CONCLUSIONES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5	RECOMENDACIONES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6	BIBLIOGRAFÍA</a:t>
            </a:r>
            <a:endParaRPr sz="1100" b="0" i="0" u="none" strike="noStrike" cap="non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52" name="Google Shape;352;g2524d66b2ad_0_260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2996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1	OBJETIVOS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2	MARCO TEÓRICO</a:t>
            </a:r>
            <a:endParaRPr sz="13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0000" marR="0" lvl="1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2.1  DECLARACIÓN UPDATE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2.2  DECLARACIÓN SELECT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2.3  MARCO DE PÁGINA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2.4  BOOTSTRAP</a:t>
            </a:r>
            <a:endParaRPr sz="1100" b="0" i="0" u="none" strike="noStrike" cap="non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3	DESARROLLO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0000" marR="0" lvl="1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3.1.	VIDEO 2: LENGUAJES DE PROGRAMACIÓN DE .NET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0000" marR="0" lvl="1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3.2.	VIDEO 3: INTEROPERABILIDAD DE LENGUAJES DE .NET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0000" marR="0" lvl="1" indent="-3184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3.3.	VIDEO 4: .NET STANDARD BCL PCL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4	CONCLUSIONES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5	RECOMENDACIONES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6	BIBLIOGRAFÍA</a:t>
            </a:r>
            <a:endParaRPr sz="1100" b="0" i="0" u="none" strike="noStrike" cap="non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55" name="Google Shape;355;g2524d66b2ad_0_260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2996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1	OBJETIVOS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004"/>
              <a:buFont typeface="Noto Sans Symbols"/>
              <a:buChar char="◼"/>
            </a:pPr>
            <a:r>
              <a:rPr lang="es-ES" sz="110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r>
              <a:rPr lang="es-ES" sz="1100" b="0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	</a:t>
            </a:r>
            <a:r>
              <a:rPr lang="es-ES" sz="110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100" b="0" i="0" u="none" strike="noStrike" cap="non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3	</a:t>
            </a: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4	CONCLUSIONES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5	RECOMENDACIONES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6	BIBLIOGRAFÍA</a:t>
            </a:r>
            <a:endParaRPr sz="1100" b="0" i="0" u="none" strike="noStrike" cap="non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6253BA09-379B-4E92-AB2C-E24C0CBC191D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043044" y="2228849"/>
            <a:ext cx="4694555" cy="3650403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2524d66b2ad_0_335"/>
          <p:cNvSpPr txBox="1">
            <a:spLocks noGrp="1"/>
          </p:cNvSpPr>
          <p:nvPr>
            <p:ph type="body" idx="1"/>
          </p:nvPr>
        </p:nvSpPr>
        <p:spPr>
          <a:xfrm>
            <a:off x="491125" y="1804850"/>
            <a:ext cx="3312300" cy="44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06000" lvl="0" indent="-305998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56"/>
              <a:buChar char="◼"/>
            </a:pPr>
            <a:r>
              <a:rPr lang="es-MX" dirty="0">
                <a:solidFill>
                  <a:schemeClr val="dk1"/>
                </a:solidFill>
              </a:rPr>
              <a:t>Al mismo tiempo se creará un formulario (JFrame </a:t>
            </a:r>
            <a:r>
              <a:rPr lang="es-MX" dirty="0" err="1">
                <a:solidFill>
                  <a:schemeClr val="dk1"/>
                </a:solidFill>
              </a:rPr>
              <a:t>Form</a:t>
            </a:r>
            <a:r>
              <a:rPr lang="es-MX" dirty="0">
                <a:solidFill>
                  <a:schemeClr val="dk1"/>
                </a:solidFill>
              </a:rPr>
              <a:t>)  para </a:t>
            </a:r>
            <a:r>
              <a:rPr lang="es-EC" dirty="0">
                <a:solidFill>
                  <a:schemeClr val="dk1"/>
                </a:solidFill>
              </a:rPr>
              <a:t>el Inicio de Sesión</a:t>
            </a:r>
            <a:endParaRPr dirty="0">
              <a:solidFill>
                <a:schemeClr val="dk1"/>
              </a:solidFill>
            </a:endParaRPr>
          </a:p>
          <a:p>
            <a:pPr marL="306000" lvl="0" indent="0" algn="just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948"/>
              <a:buNone/>
            </a:pPr>
            <a:endParaRPr dirty="0">
              <a:solidFill>
                <a:schemeClr val="dk1"/>
              </a:solidFill>
            </a:endParaRPr>
          </a:p>
        </p:txBody>
      </p:sp>
      <p:sp>
        <p:nvSpPr>
          <p:cNvPr id="405" name="Google Shape;405;g2524d66b2ad_0_335"/>
          <p:cNvSpPr txBox="1"/>
          <p:nvPr/>
        </p:nvSpPr>
        <p:spPr>
          <a:xfrm>
            <a:off x="11704320" y="6427410"/>
            <a:ext cx="467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ES" sz="20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17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g2524d66b2ad_0_335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2996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1	OBJETIVOS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	MARCO TEÓRICO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0000" marR="0" lvl="1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2.1  INTRODUCCIÓN A DOTNET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2.2  DOTNET FRAMEWORK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2.3  DOTNET CORE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2.4 MONO Y XAMARIN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2.5 ENTITY FRAMEWORK CORE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2.6    C++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2.7    F#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2.8    VISUAL BASIC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2.9    C#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2.10   JAVA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2.11   JAVASCRIPT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3	DESARROLLO</a:t>
            </a:r>
            <a:endParaRPr sz="13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0000" marR="0" lvl="1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3.1.	VIDEO 2: LENGUAJES DE PROGRAMACIÓN DE .NET</a:t>
            </a:r>
            <a:endParaRPr sz="13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0000" marR="0" lvl="1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3.2.	VIDEO 3: INTEROPERABILIDAD DE LENGUAJES DE .NET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0000" marR="0" lvl="1" indent="-3184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3.3.	VIDEO 4: .NET STANDARD BCL PCL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4	CONCLUSIONES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5	RECOMENDACIONES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6	BIBLIOGRAFÍA</a:t>
            </a:r>
            <a:endParaRPr sz="1100" b="0" i="0" u="none" strike="noStrike" cap="non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07" name="Google Shape;407;g2524d66b2ad_0_335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2996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1	OBJETIVOS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2	MARCO TEÓRICO</a:t>
            </a:r>
            <a:endParaRPr sz="13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0000" marR="0" lvl="1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2.1  DECLARACIÓN UPDATE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2.2  DECLARACIÓN SELECT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2.3  MARCO DE PÁGINA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2.4  BOOTSTRAP</a:t>
            </a:r>
            <a:endParaRPr sz="1100" b="0" i="0" u="none" strike="noStrike" cap="non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3	DESARROLLO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0000" marR="0" lvl="1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3.1.	VIDEO 2: LENGUAJES DE PROGRAMACIÓN DE .NET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0000" marR="0" lvl="1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3.2.	VIDEO 3: INTEROPERABILIDAD DE LENGUAJES DE .NET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0000" marR="0" lvl="1" indent="-3184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3.3.	VIDEO 4: .NET STANDARD BCL PCL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4	CONCLUSIONES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5	RECOMENDACIONES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6	BIBLIOGRAFÍA</a:t>
            </a:r>
            <a:endParaRPr sz="1100" b="0" i="0" u="none" strike="noStrike" cap="non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10" name="Google Shape;410;g2524d66b2ad_0_335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2996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1	OBJETIVOS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004"/>
              <a:buFont typeface="Noto Sans Symbols"/>
              <a:buChar char="◼"/>
            </a:pPr>
            <a:r>
              <a:rPr lang="es-ES" sz="110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r>
              <a:rPr lang="es-ES" sz="1100" b="0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	</a:t>
            </a:r>
            <a:r>
              <a:rPr lang="es-ES" sz="110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100" b="0" i="0" u="none" strike="noStrike" cap="non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3	</a:t>
            </a: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4	CONCLUSIONES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5	RECOMENDACIONES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6	BIBLIOGRAFÍA</a:t>
            </a:r>
            <a:endParaRPr sz="1100" b="0" i="0" u="none" strike="noStrike" cap="non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F01CC4F-5B3D-B8C0-E049-3AB96A13EA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0602" y="2584382"/>
            <a:ext cx="4859587" cy="306104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2524d66b2ad_0_335"/>
          <p:cNvSpPr txBox="1">
            <a:spLocks noGrp="1"/>
          </p:cNvSpPr>
          <p:nvPr>
            <p:ph type="body" idx="1"/>
          </p:nvPr>
        </p:nvSpPr>
        <p:spPr>
          <a:xfrm>
            <a:off x="491125" y="1804850"/>
            <a:ext cx="3312300" cy="44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06000" lvl="0" indent="-305998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56"/>
              <a:buChar char="◼"/>
            </a:pPr>
            <a:r>
              <a:rPr lang="es-MX" dirty="0">
                <a:solidFill>
                  <a:schemeClr val="dk1"/>
                </a:solidFill>
              </a:rPr>
              <a:t>De igual manera se creará un formulario (JFrame </a:t>
            </a:r>
            <a:r>
              <a:rPr lang="es-MX" dirty="0" err="1">
                <a:solidFill>
                  <a:schemeClr val="dk1"/>
                </a:solidFill>
              </a:rPr>
              <a:t>Form</a:t>
            </a:r>
            <a:r>
              <a:rPr lang="es-MX" dirty="0">
                <a:solidFill>
                  <a:schemeClr val="dk1"/>
                </a:solidFill>
              </a:rPr>
              <a:t>)  </a:t>
            </a:r>
            <a:r>
              <a:rPr lang="es-EC" dirty="0">
                <a:solidFill>
                  <a:schemeClr val="dk1"/>
                </a:solidFill>
              </a:rPr>
              <a:t>para la conversión de unidades</a:t>
            </a:r>
            <a:endParaRPr dirty="0">
              <a:solidFill>
                <a:schemeClr val="dk1"/>
              </a:solidFill>
            </a:endParaRPr>
          </a:p>
          <a:p>
            <a:pPr marL="306000" lvl="0" indent="0" algn="just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948"/>
              <a:buNone/>
            </a:pPr>
            <a:endParaRPr dirty="0">
              <a:solidFill>
                <a:schemeClr val="dk1"/>
              </a:solidFill>
            </a:endParaRPr>
          </a:p>
        </p:txBody>
      </p:sp>
      <p:sp>
        <p:nvSpPr>
          <p:cNvPr id="405" name="Google Shape;405;g2524d66b2ad_0_335"/>
          <p:cNvSpPr txBox="1"/>
          <p:nvPr/>
        </p:nvSpPr>
        <p:spPr>
          <a:xfrm>
            <a:off x="11704320" y="6427410"/>
            <a:ext cx="467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ES" sz="20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17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g2524d66b2ad_0_335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2996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1	OBJETIVOS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	MARCO TEÓRICO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0000" marR="0" lvl="1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2.1  INTRODUCCIÓN A DOTNET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2.2  DOTNET FRAMEWORK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2.3  DOTNET CORE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2.4 MONO Y XAMARIN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2.5 ENTITY FRAMEWORK CORE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2.6    C++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2.7    F#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2.8    VISUAL BASIC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2.9    C#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2.10   JAVA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2.11   JAVASCRIPT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3	DESARROLLO</a:t>
            </a:r>
            <a:endParaRPr sz="13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0000" marR="0" lvl="1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3.1.	VIDEO 2: LENGUAJES DE PROGRAMACIÓN DE .NET</a:t>
            </a:r>
            <a:endParaRPr sz="13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0000" marR="0" lvl="1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3.2.	VIDEO 3: INTEROPERABILIDAD DE LENGUAJES DE .NET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0000" marR="0" lvl="1" indent="-3184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3.3.	VIDEO 4: .NET STANDARD BCL PCL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4	CONCLUSIONES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5	RECOMENDACIONES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6	BIBLIOGRAFÍA</a:t>
            </a:r>
            <a:endParaRPr sz="1100" b="0" i="0" u="none" strike="noStrike" cap="non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07" name="Google Shape;407;g2524d66b2ad_0_335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2996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1	OBJETIVOS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2	MARCO TEÓRICO</a:t>
            </a:r>
            <a:endParaRPr sz="13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0000" marR="0" lvl="1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2.1  DECLARACIÓN UPDATE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2.2  DECLARACIÓN SELECT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2.3  MARCO DE PÁGINA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2.4  BOOTSTRAP</a:t>
            </a:r>
            <a:endParaRPr sz="1100" b="0" i="0" u="none" strike="noStrike" cap="non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3	DESARROLLO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0000" marR="0" lvl="1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3.1.	VIDEO 2: LENGUAJES DE PROGRAMACIÓN DE .NET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0000" marR="0" lvl="1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3.2.	VIDEO 3: INTEROPERABILIDAD DE LENGUAJES DE .NET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0000" marR="0" lvl="1" indent="-3184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3.3.	VIDEO 4: .NET STANDARD BCL PCL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4	CONCLUSIONES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5	RECOMENDACIONES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6	BIBLIOGRAFÍA</a:t>
            </a:r>
            <a:endParaRPr sz="1100" b="0" i="0" u="none" strike="noStrike" cap="non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10" name="Google Shape;410;g2524d66b2ad_0_335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2996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1	OBJETIVOS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004"/>
              <a:buFont typeface="Noto Sans Symbols"/>
              <a:buChar char="◼"/>
            </a:pPr>
            <a:r>
              <a:rPr lang="es-ES" sz="110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r>
              <a:rPr lang="es-ES" sz="1100" b="0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	</a:t>
            </a:r>
            <a:r>
              <a:rPr lang="es-ES" sz="110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100" b="0" i="0" u="none" strike="noStrike" cap="non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3	</a:t>
            </a: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4	CONCLUSIONES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5	RECOMENDACIONES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6	BIBLIOGRAFÍA</a:t>
            </a:r>
            <a:endParaRPr sz="1100" b="0" i="0" u="none" strike="noStrike" cap="non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667854C-2BCA-23A4-106D-54F6F23E98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3823" y="2236304"/>
            <a:ext cx="5122550" cy="3043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1652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1dc40ab34ca_0_211"/>
          <p:cNvSpPr txBox="1">
            <a:spLocks noGrp="1"/>
          </p:cNvSpPr>
          <p:nvPr>
            <p:ph type="title"/>
          </p:nvPr>
        </p:nvSpPr>
        <p:spPr>
          <a:xfrm>
            <a:off x="581242" y="7793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Gill Sans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Gill Sans"/>
              <a:buNone/>
            </a:pPr>
            <a:r>
              <a:rPr lang="es-ES"/>
              <a:t>2.3 CREACIÓN DEL CLIENTE EN APLICACIÓN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Gill Sans"/>
              <a:buNone/>
            </a:pPr>
            <a:r>
              <a:rPr lang="es-ES"/>
              <a:t>DE CONSOLA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Gill Sans"/>
              <a:buNone/>
            </a:pPr>
            <a:endParaRPr/>
          </a:p>
        </p:txBody>
      </p:sp>
      <p:sp>
        <p:nvSpPr>
          <p:cNvPr id="437" name="Google Shape;437;g1dc40ab34ca_0_211"/>
          <p:cNvSpPr txBox="1"/>
          <p:nvPr/>
        </p:nvSpPr>
        <p:spPr>
          <a:xfrm>
            <a:off x="11704320" y="6427410"/>
            <a:ext cx="467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ES" sz="20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17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g1dc40ab34ca_0_211"/>
          <p:cNvSpPr txBox="1"/>
          <p:nvPr/>
        </p:nvSpPr>
        <p:spPr>
          <a:xfrm>
            <a:off x="0" y="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330200" lvl="0" indent="0" algn="just" rt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9" name="Google Shape;439;g1dc40ab34ca_0_211"/>
          <p:cNvSpPr txBox="1"/>
          <p:nvPr/>
        </p:nvSpPr>
        <p:spPr>
          <a:xfrm>
            <a:off x="392325" y="1898900"/>
            <a:ext cx="8162100" cy="27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40" name="Google Shape;440;g1dc40ab34ca_0_211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2996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1	OBJETIVOS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	MARCO TEÓRICO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0000" marR="0" lvl="1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2.1  INTRODUCCIÓN A DOTNET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2.2  DOTNET FRAMEWORK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2.3  DOTNET CORE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2.4 MONO Y XAMARIN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2.5 ENTITY FRAMEWORK CORE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2.6    C++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2.7    F#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2.8    VISUAL BASIC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2.9    C#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2.10   JAVA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2.11   JAVASCRIPT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3	DESARROLLO</a:t>
            </a:r>
            <a:endParaRPr sz="13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0000" marR="0" lvl="1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3.1.	VIDEO 2: LENGUAJES DE PROGRAMACIÓN DE .NET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0000" marR="0" lvl="1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3.2.	VIDEO 3: INTEROPERABILIDAD DE LENGUAJES DE .NET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0000" marR="0" lvl="1" indent="-3184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300"/>
              <a:buFont typeface="Arial"/>
              <a:buChar char="◼"/>
            </a:pPr>
            <a:r>
              <a:rPr lang="es-ES" sz="1100" b="0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3.3.	VIDEO 4: .NET STANDARD BCL PCL</a:t>
            </a:r>
            <a:endParaRPr sz="1100" b="0" i="0" u="none" strike="noStrike" cap="non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4	CONCLUSIONES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5	RECOMENDACIONES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6	BIBLIOGRAFÍA</a:t>
            </a:r>
            <a:endParaRPr sz="1100" b="0" i="0" u="none" strike="noStrike" cap="non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41" name="Google Shape;441;g1dc40ab34ca_0_211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2996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1	OBJETIVOS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2	MARCO TEÓRICO</a:t>
            </a:r>
            <a:endParaRPr sz="13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0000" marR="0" lvl="1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2.1  DECLARACIÓN UPDATE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2.2  DECLARACIÓN SELECT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2.3  MARCO DE PÁGINA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2.4  BOOTSTRAP</a:t>
            </a:r>
            <a:endParaRPr sz="1100" b="0" i="0" u="none" strike="noStrike" cap="non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3	DESARROLLO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0000" marR="0" lvl="1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3.1.	VIDEO 2: LENGUAJES DE PROGRAMACIÓN DE .NET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0000" marR="0" lvl="1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3.2.	VIDEO 3: INTEROPERABILIDAD DE LENGUAJES DE .NET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0000" marR="0" lvl="1" indent="-3184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3.3.	VIDEO 4: .NET STANDARD BCL PCL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4	CONCLUSIONES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5	RECOMENDACIONES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6	BIBLIOGRAFÍA</a:t>
            </a:r>
            <a:endParaRPr sz="1100" b="0" i="0" u="none" strike="noStrike" cap="non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43" name="Google Shape;443;g1dc40ab34ca_0_211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2996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1	OBJETIVOS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004"/>
              <a:buFont typeface="Noto Sans Symbols"/>
              <a:buChar char="◼"/>
            </a:pPr>
            <a:r>
              <a:rPr lang="es-ES" sz="110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r>
              <a:rPr lang="es-ES" sz="1100" b="0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	</a:t>
            </a:r>
            <a:r>
              <a:rPr lang="es-ES" sz="110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100" b="0" i="0" u="none" strike="noStrike" cap="non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3	</a:t>
            </a: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4	CONCLUSIONES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5	RECOMENDACIONES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6	BIBLIOGRAFÍA</a:t>
            </a:r>
            <a:endParaRPr sz="1100" b="0" i="0" u="none" strike="noStrike" cap="non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08A14BF4-F875-420D-9C69-85F16EC346D9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149649" y="2218412"/>
            <a:ext cx="3156325" cy="1678756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9E02E913-8741-4690-BEE2-367EA4FD8362}"/>
              </a:ext>
            </a:extLst>
          </p:cNvPr>
          <p:cNvPicPr/>
          <p:nvPr/>
        </p:nvPicPr>
        <p:blipFill rotWithShape="1">
          <a:blip r:embed="rId4"/>
          <a:srcRect b="7514"/>
          <a:stretch/>
        </p:blipFill>
        <p:spPr bwMode="auto">
          <a:xfrm>
            <a:off x="3088180" y="4216680"/>
            <a:ext cx="3271979" cy="1947820"/>
          </a:xfrm>
          <a:prstGeom prst="rect">
            <a:avLst/>
          </a:prstGeom>
          <a:ln w="88900" cap="sq" cmpd="thickThin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>
            <a:innerShdw blurRad="76200">
              <a:srgbClr val="000000"/>
            </a:inn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2524d66b2ad_0_451"/>
          <p:cNvSpPr txBox="1">
            <a:spLocks noGrp="1"/>
          </p:cNvSpPr>
          <p:nvPr>
            <p:ph type="title"/>
          </p:nvPr>
        </p:nvSpPr>
        <p:spPr>
          <a:xfrm>
            <a:off x="581242" y="7793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Gill Sans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Gill Sans"/>
              <a:buNone/>
            </a:pPr>
            <a:r>
              <a:rPr lang="es-ES"/>
              <a:t>2.3 CREACIÓN DEL CLIENTE EN APLICACIÓN MÓVIL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Gill Sans"/>
              <a:buNone/>
            </a:pPr>
            <a:endParaRPr/>
          </a:p>
        </p:txBody>
      </p:sp>
      <p:sp>
        <p:nvSpPr>
          <p:cNvPr id="504" name="Google Shape;504;g2524d66b2ad_0_451"/>
          <p:cNvSpPr txBox="1"/>
          <p:nvPr/>
        </p:nvSpPr>
        <p:spPr>
          <a:xfrm>
            <a:off x="11704320" y="6427410"/>
            <a:ext cx="467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ES" sz="20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17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g2524d66b2ad_0_451"/>
          <p:cNvSpPr txBox="1"/>
          <p:nvPr/>
        </p:nvSpPr>
        <p:spPr>
          <a:xfrm>
            <a:off x="0" y="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330200" lvl="0" indent="0" algn="just" rt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6" name="Google Shape;506;g2524d66b2ad_0_451"/>
          <p:cNvSpPr txBox="1"/>
          <p:nvPr/>
        </p:nvSpPr>
        <p:spPr>
          <a:xfrm>
            <a:off x="392325" y="1898900"/>
            <a:ext cx="8162100" cy="27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07" name="Google Shape;507;g2524d66b2ad_0_451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2996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1	OBJETIVOS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	MARCO TEÓRICO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0000" marR="0" lvl="1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2.1  INTRODUCCIÓN A DOTNET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2.2  DOTNET FRAMEWORK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2.3  DOTNET CORE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2.4 MONO Y XAMARIN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2.5 ENTITY FRAMEWORK CORE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2.6    C++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2.7    F#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2.8    VISUAL BASIC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2.9    C#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2.10   JAVA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2.11   JAVASCRIPT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3	DESARROLLO</a:t>
            </a:r>
            <a:endParaRPr sz="13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0000" marR="0" lvl="1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3.1.	VIDEO 2: LENGUAJES DE PROGRAMACIÓN DE .NET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0000" marR="0" lvl="1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3.2.	VIDEO 3: INTEROPERABILIDAD DE LENGUAJES DE .NET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0000" marR="0" lvl="1" indent="-3184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300"/>
              <a:buFont typeface="Arial"/>
              <a:buChar char="◼"/>
            </a:pPr>
            <a:r>
              <a:rPr lang="es-ES" sz="1100" b="0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3.3.	VIDEO 4: .NET STANDARD BCL PCL</a:t>
            </a:r>
            <a:endParaRPr sz="1100" b="0" i="0" u="none" strike="noStrike" cap="non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4	CONCLUSIONES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5	RECOMENDACIONES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6	BIBLIOGRAFÍA</a:t>
            </a:r>
            <a:endParaRPr sz="1100" b="0" i="0" u="none" strike="noStrike" cap="non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08" name="Google Shape;508;g2524d66b2ad_0_451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2996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1	OBJETIVOS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2	MARCO TEÓRICO</a:t>
            </a:r>
            <a:endParaRPr sz="13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0000" marR="0" lvl="1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2.1  DECLARACIÓN UPDATE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2.2  DECLARACIÓN SELECT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2.3  MARCO DE PÁGINA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2.4  BOOTSTRAP</a:t>
            </a:r>
            <a:endParaRPr sz="1100" b="0" i="0" u="none" strike="noStrike" cap="non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3	DESARROLLO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0000" marR="0" lvl="1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3.1.	VIDEO 2: LENGUAJES DE PROGRAMACIÓN DE .NET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0000" marR="0" lvl="1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3.2.	VIDEO 3: INTEROPERABILIDAD DE LENGUAJES DE .NET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0000" marR="0" lvl="1" indent="-3184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3.3.	VIDEO 4: .NET STANDARD BCL PCL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4	CONCLUSIONES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5	RECOMENDACIONES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6	BIBLIOGRAFÍA</a:t>
            </a:r>
            <a:endParaRPr sz="1100" b="0" i="0" u="none" strike="noStrike" cap="non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10" name="Google Shape;510;g2524d66b2ad_0_451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2996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1	OBJETIVOS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004"/>
              <a:buFont typeface="Noto Sans Symbols"/>
              <a:buChar char="◼"/>
            </a:pPr>
            <a:r>
              <a:rPr lang="es-ES" sz="110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r>
              <a:rPr lang="es-ES" sz="1100" b="0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	</a:t>
            </a:r>
            <a:r>
              <a:rPr lang="es-ES" sz="110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100" b="0" i="0" u="none" strike="noStrike" cap="non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3	</a:t>
            </a: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4	CONCLUSIONES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5	RECOMENDACIONES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6	BIBLIOGRAFÍA</a:t>
            </a:r>
            <a:endParaRPr sz="1100" b="0" i="0" u="none" strike="noStrike" cap="non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30C689D-356E-0492-265D-7A95BE6D9E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0578" y="2094899"/>
            <a:ext cx="5543466" cy="398374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2524d66b2ad_0_476"/>
          <p:cNvSpPr txBox="1">
            <a:spLocks noGrp="1"/>
          </p:cNvSpPr>
          <p:nvPr>
            <p:ph type="title"/>
          </p:nvPr>
        </p:nvSpPr>
        <p:spPr>
          <a:xfrm>
            <a:off x="581242" y="7793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Gill Sans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Gill Sans"/>
              <a:buNone/>
            </a:pPr>
            <a:r>
              <a:rPr lang="es-ES"/>
              <a:t>3 EJECUCIÓN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Gill Sans"/>
              <a:buNone/>
            </a:pPr>
            <a:endParaRPr/>
          </a:p>
        </p:txBody>
      </p:sp>
      <p:sp>
        <p:nvSpPr>
          <p:cNvPr id="526" name="Google Shape;526;g2524d66b2ad_0_476"/>
          <p:cNvSpPr txBox="1"/>
          <p:nvPr/>
        </p:nvSpPr>
        <p:spPr>
          <a:xfrm>
            <a:off x="11704320" y="6427410"/>
            <a:ext cx="467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ES" sz="20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17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g2524d66b2ad_0_476"/>
          <p:cNvSpPr txBox="1"/>
          <p:nvPr/>
        </p:nvSpPr>
        <p:spPr>
          <a:xfrm>
            <a:off x="0" y="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330200" lvl="0" indent="0" algn="just" rt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8" name="Google Shape;528;g2524d66b2ad_0_476"/>
          <p:cNvSpPr txBox="1"/>
          <p:nvPr/>
        </p:nvSpPr>
        <p:spPr>
          <a:xfrm>
            <a:off x="392325" y="1898900"/>
            <a:ext cx="3074700" cy="3066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29" name="Google Shape;529;g2524d66b2ad_0_476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2996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1	OBJETIVOS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	MARCO TEÓRICO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0000" marR="0" lvl="1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2.1  INTRODUCCIÓN A DOTNET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2.2  DOTNET FRAMEWORK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2.3  DOTNET CORE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2.4 MONO Y XAMARIN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2.5 ENTITY FRAMEWORK CORE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2.6    C++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2.7    F#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2.8    VISUAL BASIC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2.9    C#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2.10   JAVA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2.11   JAVASCRIPT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3	DESARROLLO</a:t>
            </a:r>
            <a:endParaRPr sz="13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0000" marR="0" lvl="1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3.1.	VIDEO 2: LENGUAJES DE PROGRAMACIÓN DE .NET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0000" marR="0" lvl="1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3.2.	VIDEO 3: INTEROPERABILIDAD DE LENGUAJES DE .NET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0000" marR="0" lvl="1" indent="-3184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300"/>
              <a:buFont typeface="Arial"/>
              <a:buChar char="◼"/>
            </a:pPr>
            <a:r>
              <a:rPr lang="es-ES" sz="1100" b="0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3.3.	VIDEO 4: .NET STANDARD BCL PCL</a:t>
            </a:r>
            <a:endParaRPr sz="1100" b="0" i="0" u="none" strike="noStrike" cap="non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4	CONCLUSIONES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5	RECOMENDACIONES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6	BIBLIOGRAFÍA</a:t>
            </a:r>
            <a:endParaRPr sz="1100" b="0" i="0" u="none" strike="noStrike" cap="non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30" name="Google Shape;530;g2524d66b2ad_0_476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2996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1	OBJETIVOS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2	MARCO TEÓRICO</a:t>
            </a:r>
            <a:endParaRPr sz="13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0000" marR="0" lvl="1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2.1  DECLARACIÓN UPDATE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2.2  DECLARACIÓN SELECT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2.3  MARCO DE PÁGINA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2.4  BOOTSTRAP</a:t>
            </a:r>
            <a:endParaRPr sz="1100" b="0" i="0" u="none" strike="noStrike" cap="non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3	DESARROLLO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0000" marR="0" lvl="1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3.1.	VIDEO 2: LENGUAJES DE PROGRAMACIÓN DE .NET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0000" marR="0" lvl="1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3.2.	VIDEO 3: INTEROPERABILIDAD DE LENGUAJES DE .NET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0000" marR="0" lvl="1" indent="-3184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3.3.	VIDEO 4: .NET STANDARD BCL PCL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4	CONCLUSIONES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5	RECOMENDACIONES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6	BIBLIOGRAFÍA</a:t>
            </a:r>
            <a:endParaRPr sz="1100" b="0" i="0" u="none" strike="noStrike" cap="non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33" name="Google Shape;533;g2524d66b2ad_0_476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2996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1	OBJETIVOS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	</a:t>
            </a: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3	</a:t>
            </a:r>
            <a:r>
              <a:rPr lang="es-ES" sz="110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EJECUCIÓN</a:t>
            </a:r>
            <a:endParaRPr sz="1100" b="0" i="0" u="none" strike="noStrike" cap="non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4	CONCLUSIONES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5	RECOMENDACIONES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6	BIBLIOGRAFÍA</a:t>
            </a:r>
            <a:endParaRPr sz="1100" b="0" i="0" u="none" strike="noStrike" cap="non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4C9986-281E-B768-CBED-79EECC0EE90D}"/>
              </a:ext>
            </a:extLst>
          </p:cNvPr>
          <p:cNvSpPr txBox="1"/>
          <p:nvPr/>
        </p:nvSpPr>
        <p:spPr>
          <a:xfrm>
            <a:off x="415015" y="1984786"/>
            <a:ext cx="6104020" cy="4235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s-ES" sz="2000" b="1">
                <a:solidFill>
                  <a:srgbClr val="24406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Ejecución de cliente consola</a:t>
            </a:r>
            <a:endParaRPr lang="es-EC" sz="12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8E7E138-81D4-04AA-031E-9CFB410FEC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000" y="2514064"/>
            <a:ext cx="3343742" cy="408679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2524d66b2ad_0_476"/>
          <p:cNvSpPr txBox="1"/>
          <p:nvPr/>
        </p:nvSpPr>
        <p:spPr>
          <a:xfrm>
            <a:off x="11704320" y="6427410"/>
            <a:ext cx="467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ES" sz="20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17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g2524d66b2ad_0_476"/>
          <p:cNvSpPr txBox="1"/>
          <p:nvPr/>
        </p:nvSpPr>
        <p:spPr>
          <a:xfrm>
            <a:off x="0" y="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330200" lvl="0" indent="0" algn="just" rt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8" name="Google Shape;528;g2524d66b2ad_0_476"/>
          <p:cNvSpPr txBox="1"/>
          <p:nvPr/>
        </p:nvSpPr>
        <p:spPr>
          <a:xfrm>
            <a:off x="392325" y="1898900"/>
            <a:ext cx="3074700" cy="3066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29" name="Google Shape;529;g2524d66b2ad_0_476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2996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1	OBJETIVOS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	MARCO TEÓRICO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0000" marR="0" lvl="1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2.1  INTRODUCCIÓN A DOTNET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2.2  DOTNET FRAMEWORK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2.3  DOTNET CORE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2.4 MONO Y XAMARIN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2.5 ENTITY FRAMEWORK CORE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2.6    C++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2.7    F#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2.8    VISUAL BASIC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2.9    C#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2.10   JAVA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2.11   JAVASCRIPT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3	DESARROLLO</a:t>
            </a:r>
            <a:endParaRPr sz="13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0000" marR="0" lvl="1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3.1.	VIDEO 2: LENGUAJES DE PROGRAMACIÓN DE .NET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0000" marR="0" lvl="1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3.2.	VIDEO 3: INTEROPERABILIDAD DE LENGUAJES DE .NET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0000" marR="0" lvl="1" indent="-3184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300"/>
              <a:buFont typeface="Arial"/>
              <a:buChar char="◼"/>
            </a:pPr>
            <a:r>
              <a:rPr lang="es-ES" sz="1100" b="0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3.3.	VIDEO 4: .NET STANDARD BCL PCL</a:t>
            </a:r>
            <a:endParaRPr sz="1100" b="0" i="0" u="none" strike="noStrike" cap="non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4	CONCLUSIONES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5	RECOMENDACIONES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6	BIBLIOGRAFÍA</a:t>
            </a:r>
            <a:endParaRPr sz="1100" b="0" i="0" u="none" strike="noStrike" cap="non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30" name="Google Shape;530;g2524d66b2ad_0_476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2996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1	OBJETIVOS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2	MARCO TEÓRICO</a:t>
            </a:r>
            <a:endParaRPr sz="13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0000" marR="0" lvl="1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2.1  DECLARACIÓN UPDATE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2.2  DECLARACIÓN SELECT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2.3  MARCO DE PÁGINA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2.4  BOOTSTRAP</a:t>
            </a:r>
            <a:endParaRPr sz="1100" b="0" i="0" u="none" strike="noStrike" cap="non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3	DESARROLLO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0000" marR="0" lvl="1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3.1.	VIDEO 2: LENGUAJES DE PROGRAMACIÓN DE .NET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0000" marR="0" lvl="1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3.2.	VIDEO 3: INTEROPERABILIDAD DE LENGUAJES DE .NET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0000" marR="0" lvl="1" indent="-3184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3.3.	VIDEO 4: .NET STANDARD BCL PCL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4	CONCLUSIONES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5	RECOMENDACIONES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6	BIBLIOGRAFÍA</a:t>
            </a:r>
            <a:endParaRPr sz="1100" b="0" i="0" u="none" strike="noStrike" cap="non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33" name="Google Shape;533;g2524d66b2ad_0_476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2996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1	OBJETIVOS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	</a:t>
            </a: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3	</a:t>
            </a:r>
            <a:r>
              <a:rPr lang="es-ES" sz="110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EJECUCIÓN</a:t>
            </a:r>
            <a:endParaRPr sz="1100" b="0" i="0" u="none" strike="noStrike" cap="non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4	CONCLUSIONES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5	RECOMENDACIONES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6	BIBLIOGRAFÍA</a:t>
            </a:r>
            <a:endParaRPr sz="1100" b="0" i="0" u="none" strike="noStrike" cap="non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B3B84C6-6A8A-D086-F942-5F36FF284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b="1">
                <a:solidFill>
                  <a:schemeClr val="bg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Ejecución del cliente escritorio:</a:t>
            </a:r>
            <a:br>
              <a:rPr lang="es-ES" b="1">
                <a:solidFill>
                  <a:schemeClr val="bg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</a:br>
            <a:endParaRPr lang="es-EC" sz="4000">
              <a:solidFill>
                <a:schemeClr val="bg1"/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FE5B071-7888-3892-457E-EB6963F41D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325" y="1530626"/>
            <a:ext cx="4702124" cy="2961861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DCC5F5B4-A8D4-825A-F9F7-788DF3D1C9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1758" y="3899661"/>
            <a:ext cx="4784826" cy="2842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2932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2524d66b2ad_0_490"/>
          <p:cNvSpPr txBox="1">
            <a:spLocks noGrp="1"/>
          </p:cNvSpPr>
          <p:nvPr>
            <p:ph type="body" idx="1"/>
          </p:nvPr>
        </p:nvSpPr>
        <p:spPr>
          <a:xfrm>
            <a:off x="491125" y="1804850"/>
            <a:ext cx="3312300" cy="44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s-ES"/>
              <a:t> </a:t>
            </a:r>
            <a:endParaRPr/>
          </a:p>
        </p:txBody>
      </p:sp>
      <p:sp>
        <p:nvSpPr>
          <p:cNvPr id="539" name="Google Shape;539;g2524d66b2ad_0_490"/>
          <p:cNvSpPr txBox="1"/>
          <p:nvPr/>
        </p:nvSpPr>
        <p:spPr>
          <a:xfrm>
            <a:off x="11704320" y="6427410"/>
            <a:ext cx="467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ES" sz="20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17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g2524d66b2ad_0_490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2996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1	OBJETIVOS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	MARCO TEÓRICO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0000" marR="0" lvl="1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2.1  INTRODUCCIÓN A DOTNET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2.2  DOTNET FRAMEWORK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2.3  DOTNET CORE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2.4 MONO Y XAMARIN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2.5 ENTITY FRAMEWORK CORE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2.6    C++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2.7    F#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2.8    VISUAL BASIC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2.9    C#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2.10   JAVA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2.11   JAVASCRIPT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3	DESARROLLO</a:t>
            </a:r>
            <a:endParaRPr sz="13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0000" marR="0" lvl="1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3.1.	VIDEO 2: LENGUAJES DE PROGRAMACIÓN DE .NET</a:t>
            </a:r>
            <a:endParaRPr sz="13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0000" marR="0" lvl="1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3.2.	VIDEO 3: INTEROPERABILIDAD DE LENGUAJES DE .NET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0000" marR="0" lvl="1" indent="-3184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3.3.	VIDEO 4: .NET STANDARD BCL PCL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4	CONCLUSIONES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5	RECOMENDACIONES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6	BIBLIOGRAFÍA</a:t>
            </a:r>
            <a:endParaRPr sz="1100" b="0" i="0" u="none" strike="noStrike" cap="non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41" name="Google Shape;541;g2524d66b2ad_0_490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2996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1	OBJETIVOS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2	MARCO TEÓRICO</a:t>
            </a:r>
            <a:endParaRPr sz="13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0000" marR="0" lvl="1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2.1  DECLARACIÓN UPDATE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2.2  DECLARACIÓN SELECT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2.3  MARCO DE PÁGINA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2.4  BOOTSTRAP</a:t>
            </a:r>
            <a:endParaRPr sz="1100" b="0" i="0" u="none" strike="noStrike" cap="non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3	DESARROLLO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0000" marR="0" lvl="1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3.1.	VIDEO 2: LENGUAJES DE PROGRAMACIÓN DE .NET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0000" marR="0" lvl="1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3.2.	VIDEO 3: INTEROPERABILIDAD DE LENGUAJES DE .NET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0000" marR="0" lvl="1" indent="-3184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3.3.	VIDEO 4: .NET STANDARD BCL PCL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4	CONCLUSIONES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5	RECOMENDACIONES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6	BIBLIOGRAFÍA</a:t>
            </a:r>
            <a:endParaRPr sz="1100" b="0" i="0" u="none" strike="noStrike" cap="non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44" name="Google Shape;544;g2524d66b2ad_0_490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2996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1	OBJETIVOS</a:t>
            </a:r>
            <a:endParaRPr sz="13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r>
              <a:rPr lang="es-ES" sz="1100" b="0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	</a:t>
            </a: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100" b="0" i="0" u="none" strike="noStrike" cap="none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 dirty="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3	</a:t>
            </a:r>
            <a:r>
              <a:rPr lang="es-ES" sz="1100" dirty="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EJECUCIÓN</a:t>
            </a:r>
            <a:endParaRPr sz="1100" b="0" i="0" u="none" strike="noStrike" cap="none" dirty="0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4	CONCLUSIONES</a:t>
            </a:r>
            <a:endParaRPr sz="13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5	RECOMENDACIONES</a:t>
            </a:r>
            <a:endParaRPr sz="13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6	BIBLIOGRAFÍA</a:t>
            </a:r>
            <a:endParaRPr sz="1100" b="0" i="0" u="none" strike="noStrike" cap="none" dirty="0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73760E-80E4-6BAF-33D9-6CBE479BC1AD}"/>
              </a:ext>
            </a:extLst>
          </p:cNvPr>
          <p:cNvSpPr txBox="1"/>
          <p:nvPr/>
        </p:nvSpPr>
        <p:spPr>
          <a:xfrm>
            <a:off x="623078" y="994200"/>
            <a:ext cx="6104020" cy="555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s-ES" sz="2800" b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Ejecución de cliente móvil </a:t>
            </a:r>
            <a:endParaRPr lang="es-EC" sz="16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F7542BD-5DE0-627D-39B2-C82C33FE56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9141" y="1887412"/>
            <a:ext cx="2174148" cy="483144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1324CC2A-38F5-A77A-CBBA-CF02338D7F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2950" y="2026558"/>
            <a:ext cx="2174148" cy="483144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3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4	CONCLUSIONES</a:t>
            </a:r>
            <a:endParaRPr/>
          </a:p>
        </p:txBody>
      </p:sp>
      <p:sp>
        <p:nvSpPr>
          <p:cNvPr id="550" name="Google Shape;550;p35"/>
          <p:cNvSpPr txBox="1">
            <a:spLocks noGrp="1"/>
          </p:cNvSpPr>
          <p:nvPr>
            <p:ph type="body" idx="1"/>
          </p:nvPr>
        </p:nvSpPr>
        <p:spPr>
          <a:xfrm>
            <a:off x="581192" y="1903306"/>
            <a:ext cx="8176800" cy="3616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indent="-325869">
              <a:spcBef>
                <a:spcPts val="960"/>
              </a:spcBef>
              <a:buClr>
                <a:schemeClr val="dk1"/>
              </a:buClr>
              <a:buSzPct val="91999"/>
            </a:pPr>
            <a:r>
              <a:rPr lang="es-MX" dirty="0"/>
              <a:t>La práctica permitió desarrollar un servicio web SOAP sin base de datos en Java con JAX-WS sobre Payara Server 6 y consumirlo desde clientes de consola, escritorio y móvil.</a:t>
            </a:r>
          </a:p>
          <a:p>
            <a:pPr indent="-325869">
              <a:lnSpc>
                <a:spcPct val="110000"/>
              </a:lnSpc>
              <a:spcBef>
                <a:spcPts val="960"/>
              </a:spcBef>
              <a:buClr>
                <a:schemeClr val="dk1"/>
              </a:buClr>
              <a:buSzPct val="91999"/>
            </a:pPr>
            <a:r>
              <a:rPr lang="es-EC" altLang="es-EC" dirty="0"/>
              <a:t>La estructura en capas (servicio, ws) y el contrato WSDL facilitan la interoperabilidad y el mantenimiento; el acceso se controla con las credenciales MONSTER / MONSTER69.</a:t>
            </a:r>
          </a:p>
          <a:p>
            <a:pPr lvl="0" indent="-325869">
              <a:spcBef>
                <a:spcPts val="960"/>
              </a:spcBef>
              <a:buClr>
                <a:schemeClr val="dk1"/>
              </a:buClr>
              <a:buSzPct val="91999"/>
            </a:pPr>
            <a:endParaRPr dirty="0">
              <a:solidFill>
                <a:schemeClr val="dk1"/>
              </a:solidFill>
            </a:endParaRPr>
          </a:p>
        </p:txBody>
      </p:sp>
      <p:sp>
        <p:nvSpPr>
          <p:cNvPr id="551" name="Google Shape;551;p35"/>
          <p:cNvSpPr txBox="1"/>
          <p:nvPr/>
        </p:nvSpPr>
        <p:spPr>
          <a:xfrm>
            <a:off x="11704320" y="6427410"/>
            <a:ext cx="467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ES" sz="20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35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35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2996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1	OBJETIVOS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	MARCO TEÓRICO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0000" marR="0" lvl="1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2.1  INTRODUCCIÓN A DOTNET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2.2  DOTNET FRAMEWORK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2.3  DOTNET CORE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2.4 MONO Y XAMARIN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2.5 ENTITY FRAMEWORK CORE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2.6    C++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2.7    F#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2.8    VISUAL BASIC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2.9    C#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2.10   JAVA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2.11   JAVASCRIPT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3	DESARROLLO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0000" marR="0" lvl="1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3.1.	VIDEO 2: LENGUAJES DE PROGRAMACIÓN DE .NET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0000" marR="0" lvl="1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3.2.	VIDEO 3: INTEROPERABILIDAD DE LENGUAJES DE .NET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0000" marR="0" lvl="1" indent="-3184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3.3.	VIDEO 4: .NET STANDARD BCL PCL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4	CONCLUSIONES</a:t>
            </a:r>
            <a:endParaRPr sz="13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5	RECOMENDACIONES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6	BIBLIOGRAFÍA</a:t>
            </a:r>
            <a:endParaRPr sz="1100" b="0" i="0" u="none" strike="noStrike" cap="non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53" name="Google Shape;553;p35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2996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1	OBJETIVOS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	MARCO TEÓRICO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0000" marR="0" lvl="1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2.1  DECLARACIÓN UPDATE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2.2  DECLARACIÓN SELECT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2.3  MARCO DE PÁGINA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2.4  BOOTSTRAP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3	DESARROLLO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0000" marR="0" lvl="1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3.1.	VIDEO 2: LENGUAJES DE PROGRAMACIÓN DE .NET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0000" marR="0" lvl="1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3.2.	VIDEO 3: INTEROPERABILIDAD DE LENGUAJES DE .NET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0000" marR="0" lvl="1" indent="-3184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3.3.	VIDEO 4: .NET STANDARD BCL PCL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4	CONCLUSIONES</a:t>
            </a:r>
            <a:endParaRPr sz="13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5	RECOMENDACIONES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6	BIBLIOGRAFÍA</a:t>
            </a:r>
            <a:endParaRPr sz="1100" b="0" i="0" u="none" strike="noStrike" cap="non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54" name="Google Shape;554;p35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2996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1	OBJETIVOS</a:t>
            </a:r>
            <a:endParaRPr sz="13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r>
              <a:rPr lang="es-ES" sz="1100" b="0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	</a:t>
            </a: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100" b="0" i="0" u="none" strike="noStrike" cap="none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3	</a:t>
            </a: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</a:t>
            </a:r>
            <a:endParaRPr sz="1100" b="0" i="0" u="none" strike="noStrike" cap="none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 dirty="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4	CONCLUSIONES</a:t>
            </a:r>
            <a:endParaRPr sz="13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5</a:t>
            </a:r>
            <a:r>
              <a:rPr lang="es-ES" sz="1100" b="0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	BIBLIOGRAFÍA</a:t>
            </a:r>
            <a:endParaRPr sz="1100" b="0" i="0" u="none" strike="noStrike" cap="none" dirty="0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37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6	BIBLIOGRAFÍA</a:t>
            </a:r>
            <a:endParaRPr/>
          </a:p>
        </p:txBody>
      </p:sp>
      <p:sp>
        <p:nvSpPr>
          <p:cNvPr id="570" name="Google Shape;570;p37"/>
          <p:cNvSpPr txBox="1">
            <a:spLocks noGrp="1"/>
          </p:cNvSpPr>
          <p:nvPr>
            <p:ph type="body" idx="1"/>
          </p:nvPr>
        </p:nvSpPr>
        <p:spPr>
          <a:xfrm>
            <a:off x="581200" y="2180500"/>
            <a:ext cx="8176800" cy="42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s-EC" altLang="es-EC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 eaLnBrk="0" fontAlgn="base" hangingPunct="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s-EC" altLang="es-EC" dirty="0" err="1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Deitel, P., &amp; Deitel, H. (2017). Java How to Program (Late Objects) (11th ed.). Pearson.</a:t>
            </a:r>
          </a:p>
          <a:p>
            <a:pPr marL="342900" indent="-342900" eaLnBrk="0" fontAlgn="base" hangingPunct="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s-EC" altLang="es-EC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Pressman, R. S., &amp; Maxim, B. R. (2019). Software Engineering: A Practitioner's Approach (9th ed.). McGraw-Hill Education.</a:t>
            </a:r>
            <a:endParaRPr lang="es-EC" altLang="es-EC" dirty="0"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indent="-342900" eaLnBrk="0" fontAlgn="base" hangingPunct="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s-EC" altLang="es-EC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Bloch, J. (2018). Effective Java (3rd ed.). Addison-Wesley.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endParaRPr lang="es-EC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71" name="Google Shape;571;p37"/>
          <p:cNvSpPr txBox="1"/>
          <p:nvPr/>
        </p:nvSpPr>
        <p:spPr>
          <a:xfrm>
            <a:off x="11704320" y="6427410"/>
            <a:ext cx="46736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ES" sz="20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37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37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2996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1	OBJETIVOS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	MARCO TEÓRICO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0000" marR="0" lvl="1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2.1  INTRODUCCIÓN A DOTNET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2.2  DOTNET FRAMEWORK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2.3  DOTNET CORE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2.4 MONO Y XAMARIN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2.5 ENTITY FRAMEWORK CORE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2.6    C++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2.7    F#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2.8    VISUAL BASIC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2.9    C#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2.10   JAVA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2.11   JAVASCRIPT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3	DESARROLLO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0000" marR="0" lvl="1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3.1.	VIDEO 2: LENGUAJES DE PROGRAMACIÓN DE .NET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0000" marR="0" lvl="1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3.2.	VIDEO 3: INTEROPERABILIDAD DE LENGUAJES DE .NET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0000" marR="0" lvl="1" indent="-3184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3.3.	VIDEO 4: .NET STANDARD BCL PCL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4	CONCLUSIONES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5	RECOMENDACIONES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6	BIBLIOGRAFÍA</a:t>
            </a:r>
            <a:endParaRPr sz="1100" b="0" i="0" u="none" strike="noStrike" cap="non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73" name="Google Shape;573;p37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2996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1	OBJETIVOS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	MARCO TEÓRICO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0000" marR="0" lvl="1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2.1  DECLARACIÓN UPDATE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2.2  DECLARACIÓN SELECT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2.3  MARCO DE PÁGINA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630000" marR="0" lvl="1" indent="-3057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2.4  BOOTSTRAP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3	DESARROLLO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0000" marR="0" lvl="1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3.1.	VIDEO 2: LENGUAJES DE PROGRAMACIÓN DE .NET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0000" marR="0" lvl="1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3.2.	VIDEO 3: INTEROPERABILIDAD DE LENGUAJES DE .NET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0000" marR="0" lvl="1" indent="-318446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3.3.	VIDEO 4: .NET STANDARD BCL PCL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4	CONCLUSIONES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5	RECOMENDACIONES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6	BIBLIOGRAFÍA</a:t>
            </a:r>
            <a:endParaRPr sz="1100" b="0" i="0" u="none" strike="noStrike" cap="non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74" name="Google Shape;574;p37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2996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1	OBJETIVOS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	</a:t>
            </a: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3	</a:t>
            </a: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</a:t>
            </a:r>
            <a:endParaRPr sz="11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4	CONCLUSIONES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5	RECOMENDACIONES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2996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004"/>
              <a:buFont typeface="Noto Sans Symbols"/>
              <a:buChar char="◼"/>
            </a:pPr>
            <a:r>
              <a:rPr lang="es-ES" sz="1100" b="0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6	BIBLIOGRAFÍA</a:t>
            </a:r>
            <a:endParaRPr sz="1100" b="0" i="0" u="none" strike="noStrike" cap="non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videndo">
  <a:themeElements>
    <a:clrScheme name="Dividend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3509</Words>
  <Application>Microsoft Office PowerPoint</Application>
  <PresentationFormat>Panorámica</PresentationFormat>
  <Paragraphs>749</Paragraphs>
  <Slides>20</Slides>
  <Notes>20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7" baseType="lpstr">
      <vt:lpstr>Calibri</vt:lpstr>
      <vt:lpstr>Gill Sans</vt:lpstr>
      <vt:lpstr>Noto Sans Symbols</vt:lpstr>
      <vt:lpstr>Arial</vt:lpstr>
      <vt:lpstr>Times New Roman</vt:lpstr>
      <vt:lpstr>Symbol</vt:lpstr>
      <vt:lpstr>Dividendo</vt:lpstr>
      <vt:lpstr>CONVERSIÓN DE UNIDADES SOAP EN JAVA SIN BASE DE DATOS  </vt:lpstr>
      <vt:lpstr>1 OBJETIVO</vt:lpstr>
      <vt:lpstr>1 OBJETIVOS ESPECIFICOS</vt:lpstr>
      <vt:lpstr>2 DESARROLLO</vt:lpstr>
      <vt:lpstr>2.1.1. CREACIÓN DEL PROYECTO SERVIDOR </vt:lpstr>
      <vt:lpstr>Presentación de PowerPoint</vt:lpstr>
      <vt:lpstr>Presentación de PowerPoint</vt:lpstr>
      <vt:lpstr>2.2 CREACIÓN DEL PROYECTO ESCRITORIO CLIENTE</vt:lpstr>
      <vt:lpstr>Presentación de PowerPoint</vt:lpstr>
      <vt:lpstr>Presentación de PowerPoint</vt:lpstr>
      <vt:lpstr>Presentación de PowerPoint</vt:lpstr>
      <vt:lpstr> 2.3 CREACIÓN DEL CLIENTE EN APLICACIÓN  DE CONSOLA  </vt:lpstr>
      <vt:lpstr> 2.3 CREACIÓN DEL CLIENTE EN APLICACIÓN MÓVIL  </vt:lpstr>
      <vt:lpstr> 2.4. CREACIÓN DEL CLIENTE EN APLICACIÓN DE WEB </vt:lpstr>
      <vt:lpstr> 3 EJECUCIÓN  </vt:lpstr>
      <vt:lpstr>Ejecución del cliente escritorio: </vt:lpstr>
      <vt:lpstr>Ejecución del cliente web: </vt:lpstr>
      <vt:lpstr>Presentación de PowerPoint</vt:lpstr>
      <vt:lpstr>4 CONCLUSIONES</vt:lpstr>
      <vt:lpstr>6 BIBLIOGRAFÍA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PROYECTO BDD LOCAL SOAP JAVA</dc:title>
  <dc:creator>Michael Villarruel</dc:creator>
  <cp:lastModifiedBy>ARIEL XD</cp:lastModifiedBy>
  <cp:revision>8</cp:revision>
  <dcterms:created xsi:type="dcterms:W3CDTF">2020-07-10T23:33:49Z</dcterms:created>
  <dcterms:modified xsi:type="dcterms:W3CDTF">2026-05-13T01:27:01Z</dcterms:modified>
</cp:coreProperties>
</file>